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c7902b93c74e64" /><Relationship Type="http://schemas.openxmlformats.org/officeDocument/2006/relationships/extended-properties" Target="/docProps/app.xml" Id="Rd1fe4ff279324ce6" /><Relationship Type="http://schemas.openxmlformats.org/officeDocument/2006/relationships/officeDocument" Target="/ppt/presentation.xml" Id="R6ec85b8ce8d042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c9f87a0d04a9b"/>
  </p:sldMasterIdLst>
  <p:notesMasterIdLst>
    <p:notesMasterId xmlns:r="http://schemas.openxmlformats.org/officeDocument/2006/relationships" r:id="R8b6709e0bf9f4f34"/>
  </p:notesMasterIdLst>
  <p:sldIdLst>
    <p:sldId xmlns:r="http://schemas.openxmlformats.org/officeDocument/2006/relationships" id="256" r:id="R9ef4277b15bc4872"/>
    <p:sldId xmlns:r="http://schemas.openxmlformats.org/officeDocument/2006/relationships" id="257" r:id="Rf1ebc1a5b818477f"/>
    <p:sldId xmlns:r="http://schemas.openxmlformats.org/officeDocument/2006/relationships" id="258" r:id="R67323327de974fef"/>
    <p:sldId xmlns:r="http://schemas.openxmlformats.org/officeDocument/2006/relationships" id="259" r:id="Rb143fcc9d43942bb"/>
    <p:sldId xmlns:r="http://schemas.openxmlformats.org/officeDocument/2006/relationships" id="260" r:id="R14221549ee87427b"/>
    <p:sldId xmlns:r="http://schemas.openxmlformats.org/officeDocument/2006/relationships" id="261" r:id="Raec6ee2b0e974e65"/>
    <p:sldId xmlns:r="http://schemas.openxmlformats.org/officeDocument/2006/relationships" id="262" r:id="R339cf19fe48040fb"/>
    <p:sldId xmlns:r="http://schemas.openxmlformats.org/officeDocument/2006/relationships" id="263" r:id="Rc8dfef9f65554eb9"/>
    <p:sldId xmlns:r="http://schemas.openxmlformats.org/officeDocument/2006/relationships" id="264" r:id="R73dc2ba946134900"/>
    <p:sldId xmlns:r="http://schemas.openxmlformats.org/officeDocument/2006/relationships" id="265" r:id="R74c51b28cdb642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62c5be408401f" /><Relationship Type="http://schemas.openxmlformats.org/officeDocument/2006/relationships/slideMaster" Target="/ppt/slideMasters/slideMaster1.xml" Id="R0e4c9f87a0d04a9b" /><Relationship Type="http://schemas.openxmlformats.org/officeDocument/2006/relationships/notesMaster" Target="/ppt/notesMasters/notesMaster1.xml" Id="R8b6709e0bf9f4f34" /><Relationship Type="http://schemas.openxmlformats.org/officeDocument/2006/relationships/presProps" Target="/ppt/presProps.xml" Id="R7c7686e047bb43f7" /><Relationship Type="http://schemas.openxmlformats.org/officeDocument/2006/relationships/tableStyles" Target="/ppt/tableStyles.xml" Id="Rf1c073e1a1a7408a" /><Relationship Type="http://schemas.openxmlformats.org/officeDocument/2006/relationships/slide" Target="/ppt/slides/slide1.xml" Id="R9ef4277b15bc4872" /><Relationship Type="http://schemas.openxmlformats.org/officeDocument/2006/relationships/slide" Target="/ppt/slides/slide2.xml" Id="Rf1ebc1a5b818477f" /><Relationship Type="http://schemas.openxmlformats.org/officeDocument/2006/relationships/slide" Target="/ppt/slides/slide3.xml" Id="R67323327de974fef" /><Relationship Type="http://schemas.openxmlformats.org/officeDocument/2006/relationships/slide" Target="/ppt/slides/slide4.xml" Id="Rb143fcc9d43942bb" /><Relationship Type="http://schemas.openxmlformats.org/officeDocument/2006/relationships/slide" Target="/ppt/slides/slide5.xml" Id="R14221549ee87427b" /><Relationship Type="http://schemas.openxmlformats.org/officeDocument/2006/relationships/slide" Target="/ppt/slides/slide6.xml" Id="Raec6ee2b0e974e65" /><Relationship Type="http://schemas.openxmlformats.org/officeDocument/2006/relationships/slide" Target="/ppt/slides/slide7.xml" Id="R339cf19fe48040fb" /><Relationship Type="http://schemas.openxmlformats.org/officeDocument/2006/relationships/slide" Target="/ppt/slides/slide8.xml" Id="Rc8dfef9f65554eb9" /><Relationship Type="http://schemas.openxmlformats.org/officeDocument/2006/relationships/slide" Target="/ppt/slides/slide9.xml" Id="R73dc2ba946134900" /><Relationship Type="http://schemas.openxmlformats.org/officeDocument/2006/relationships/slide" Target="/ppt/slides/slide10.xml" Id="R74c51b28cdb642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6c0a6ae7fa4e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743bc746a4082" /><Relationship Type="http://schemas.openxmlformats.org/officeDocument/2006/relationships/notesMaster" Target="/ppt/notesMasters/notesMaster1.xml" Id="R2a2d78ede10c4c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a48b65510d4833" /><Relationship Type="http://schemas.openxmlformats.org/officeDocument/2006/relationships/notesMaster" Target="/ppt/notesMasters/notesMaster1.xml" Id="Rdabb7607fecb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103ba9c94c480e" /><Relationship Type="http://schemas.openxmlformats.org/officeDocument/2006/relationships/notesMaster" Target="/ppt/notesMasters/notesMaster1.xml" Id="Rb046a62683f64e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0939d591cb4a62" /><Relationship Type="http://schemas.openxmlformats.org/officeDocument/2006/relationships/notesMaster" Target="/ppt/notesMasters/notesMaster1.xml" Id="R5c400c2698b046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0bf75805204bd5" /><Relationship Type="http://schemas.openxmlformats.org/officeDocument/2006/relationships/notesMaster" Target="/ppt/notesMasters/notesMaster1.xml" Id="R6df76240b79749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54b4b145fd4fd9" /><Relationship Type="http://schemas.openxmlformats.org/officeDocument/2006/relationships/notesMaster" Target="/ppt/notesMasters/notesMaster1.xml" Id="R3b64a006d4ff4f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01ff0230944b60" /><Relationship Type="http://schemas.openxmlformats.org/officeDocument/2006/relationships/notesMaster" Target="/ppt/notesMasters/notesMaster1.xml" Id="R1fb4ffe75b2e49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42504f172d48f4" /><Relationship Type="http://schemas.openxmlformats.org/officeDocument/2006/relationships/notesMaster" Target="/ppt/notesMasters/notesMaster1.xml" Id="Re45080d4f9424c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f46f1d5eaa405b" /><Relationship Type="http://schemas.openxmlformats.org/officeDocument/2006/relationships/notesMaster" Target="/ppt/notesMasters/notesMaster1.xml" Id="R4731eb0a87cd47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c2bb1223b843a5" /><Relationship Type="http://schemas.openxmlformats.org/officeDocument/2006/relationships/notesMaster" Target="/ppt/notesMasters/notesMaster1.xml" Id="R918e7fa791ff43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db3c7eb7b4a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8250fd2cb4f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8a7fd9fa14e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f4c3db5a14f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3e92d3ddc4a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ae5a3826147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0E0CB2-4333-40E6-86D9-828D624A3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C3194E-F9FF-48E9-85B4-34C356289A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54B2DD-96AA-4378-A8B8-A08B09E69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D4928E-E656-498E-B45D-9892A23B8E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E92BB5-BE28-46DC-BBBA-A3F638AFB1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5F9068-8AE2-46B8-98EB-D1C063F70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792FA0-D2BA-4966-9376-FF3CBEE2A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12596F-6B7B-4718-AD2A-C541AE44CC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814833-ABE6-4FF2-8FC9-8B127C74F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695FCF-EB60-42E1-B0E7-F2C9A00A79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e240d96a504b91" /><Relationship Type="http://schemas.openxmlformats.org/officeDocument/2006/relationships/slideLayout" Target="/ppt/slideLayouts/slideLayout1.xml" Id="R78a38aa62bec4c73" /><Relationship Type="http://schemas.openxmlformats.org/officeDocument/2006/relationships/slideLayout" Target="/ppt/slideLayouts/slideLayout2.xml" Id="Rb048808d0ea14d82" /><Relationship Type="http://schemas.openxmlformats.org/officeDocument/2006/relationships/slideLayout" Target="/ppt/slideLayouts/slideLayout3.xml" Id="R507c8d391e20498e" /><Relationship Type="http://schemas.openxmlformats.org/officeDocument/2006/relationships/slideLayout" Target="/ppt/slideLayouts/slideLayout4.xml" Id="Rf6e8a64c5d2542e5" /><Relationship Type="http://schemas.openxmlformats.org/officeDocument/2006/relationships/slideLayout" Target="/ppt/slideLayouts/slideLayout5.xml" Id="R1fdbb390ee854d38" /><Relationship Type="http://schemas.openxmlformats.org/officeDocument/2006/relationships/slideLayout" Target="/ppt/slideLayouts/slideLayout6.xml" Id="R365eb5efc20b43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a38aa62bec4c73"/>
    <p:sldLayoutId xmlns:r="http://schemas.openxmlformats.org/officeDocument/2006/relationships" id="2147483650" r:id="Rb048808d0ea14d82"/>
    <p:sldLayoutId xmlns:r="http://schemas.openxmlformats.org/officeDocument/2006/relationships" id="2147483651" r:id="R507c8d391e20498e"/>
    <p:sldLayoutId xmlns:r="http://schemas.openxmlformats.org/officeDocument/2006/relationships" id="2147483652" r:id="Rf6e8a64c5d2542e5"/>
    <p:sldLayoutId xmlns:r="http://schemas.openxmlformats.org/officeDocument/2006/relationships" id="2147483653" r:id="R1fdbb390ee854d38"/>
    <p:sldLayoutId xmlns:r="http://schemas.openxmlformats.org/officeDocument/2006/relationships" id="2147483654" r:id="R365eb5efc20b43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a6e4a461994e5d" /><Relationship Type="http://schemas.openxmlformats.org/officeDocument/2006/relationships/notesSlide" Target="/ppt/notesSlides/notesSlide1.xml" Id="R62577f63283348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eb4b274a44723" /><Relationship Type="http://schemas.openxmlformats.org/officeDocument/2006/relationships/notesSlide" Target="/ppt/notesSlides/notesSlide2.xml" Id="R0f9767dd32f74e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729e7813654acf" /><Relationship Type="http://schemas.openxmlformats.org/officeDocument/2006/relationships/notesSlide" Target="/ppt/notesSlides/notesSlide3.xml" Id="R6655b488920f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b4da2032241bb" /><Relationship Type="http://schemas.openxmlformats.org/officeDocument/2006/relationships/notesSlide" Target="/ppt/notesSlides/notesSlide4.xml" Id="R7a71c9436ce044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4940e648f40bc" /><Relationship Type="http://schemas.openxmlformats.org/officeDocument/2006/relationships/notesSlide" Target="/ppt/notesSlides/notesSlide5.xml" Id="R5836b4f9e0d740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d907be05f46d0" /><Relationship Type="http://schemas.openxmlformats.org/officeDocument/2006/relationships/notesSlide" Target="/ppt/notesSlides/notesSlide6.xml" Id="R8688976afa2644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6a9919c0f4954" /><Relationship Type="http://schemas.openxmlformats.org/officeDocument/2006/relationships/notesSlide" Target="/ppt/notesSlides/notesSlide7.xml" Id="R858985dc6b7449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96b3dbaed34292" /><Relationship Type="http://schemas.openxmlformats.org/officeDocument/2006/relationships/notesSlide" Target="/ppt/notesSlides/notesSlide8.xml" Id="R49dd04a851324f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58ae5469c4668" /><Relationship Type="http://schemas.openxmlformats.org/officeDocument/2006/relationships/notesSlide" Target="/ppt/notesSlides/notesSlide9.xml" Id="Rd1bc4feba29c44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d9db0332a74815" /><Relationship Type="http://schemas.openxmlformats.org/officeDocument/2006/relationships/notesSlide" Target="/ppt/notesSlides/notesSlide10.xml" Id="R380feed7ab2d4b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1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27A0D-DD07-4713-9DE0-18E2E93F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857250"/>
            <a:ext cx="114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9BC7C-F587-41E2-A25F-D4C0ADF3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6800" y="9715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77D5CB"/>
                </a:solidFill>
              </a:defRPr>
            </a:defPPr>
            <a:lvl1pPr>
              <a:buNone/>
              <a:defRPr sz="1350" b="1">
                <a:solidFill>
                  <a:srgbClr val="77D5CB"/>
                </a:solidFill>
              </a:defRPr>
            </a:lvl1pPr>
            <a:lvl2pPr>
              <a:buNone/>
              <a:defRPr sz="1350" b="1">
                <a:solidFill>
                  <a:srgbClr val="77D5CB"/>
                </a:solidFill>
              </a:defRPr>
            </a:lvl2pPr>
            <a:lvl3pPr>
              <a:buNone/>
              <a:defRPr sz="1350" b="1">
                <a:solidFill>
                  <a:srgbClr val="77D5CB"/>
                </a:solidFill>
              </a:defRPr>
            </a:lvl3pPr>
            <a:lvl4pPr>
              <a:buNone/>
              <a:defRPr sz="1350" b="1">
                <a:solidFill>
                  <a:srgbClr val="77D5CB"/>
                </a:solidFill>
              </a:defRPr>
            </a:lvl4pPr>
            <a:lvl5pPr>
              <a:buNone/>
              <a:defRPr sz="1350" b="1">
                <a:solidFill>
                  <a:srgbClr val="77D5CB"/>
                </a:solidFill>
              </a:defRPr>
            </a:lvl5pPr>
            <a:lvl6pPr>
              <a:buNone/>
              <a:defRPr sz="1350" b="1">
                <a:solidFill>
                  <a:srgbClr val="77D5CB"/>
                </a:solidFill>
              </a:defRPr>
            </a:lvl6pPr>
            <a:lvl7pPr>
              <a:buNone/>
              <a:defRPr sz="1350" b="1">
                <a:solidFill>
                  <a:srgbClr val="77D5CB"/>
                </a:solidFill>
              </a:defRPr>
            </a:lvl7pPr>
            <a:lvl8pPr>
              <a:buNone/>
              <a:defRPr sz="1350" b="1">
                <a:solidFill>
                  <a:srgbClr val="77D5CB"/>
                </a:solidFill>
              </a:defRPr>
            </a:lvl8pPr>
            <a:lvl9pPr>
              <a:buNone/>
              <a:defRPr sz="1350" b="1">
                <a:solidFill>
                  <a:srgbClr val="77D5CB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77D5CB"/>
                </a:solidFill>
              </a:defRPr>
            </a:pPr>
            <a:r>
              <a:rPr sz="1350" b="1">
                <a:solidFill>
                  <a:srgbClr val="77D5CB"/>
                </a:solidFill>
              </a:rPr>
              <a:t>TRANSPORTATION  /  MINI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8023C-BCDB-4DB5-8F5B-B6488FC0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6800" y="1762125"/>
            <a:ext cx="952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buNone/>
              <a:defRPr sz="3900" b="1">
                <a:solidFill>
                  <a:srgbClr val="FFFFFF"/>
                </a:solidFill>
              </a:defRPr>
            </a:lvl1pPr>
            <a:lvl2pPr>
              <a:buNone/>
              <a:defRPr sz="3900" b="1">
                <a:solidFill>
                  <a:srgbClr val="FFFFFF"/>
                </a:solidFill>
              </a:defRPr>
            </a:lvl2pPr>
            <a:lvl3pPr>
              <a:buNone/>
              <a:defRPr sz="3900" b="1">
                <a:solidFill>
                  <a:srgbClr val="FFFFFF"/>
                </a:solidFill>
              </a:defRPr>
            </a:lvl3pPr>
            <a:lvl4pPr>
              <a:buNone/>
              <a:defRPr sz="3900" b="1">
                <a:solidFill>
                  <a:srgbClr val="FFFFFF"/>
                </a:solidFill>
              </a:defRPr>
            </a:lvl4pPr>
            <a:lvl5pPr>
              <a:buNone/>
              <a:defRPr sz="3900" b="1">
                <a:solidFill>
                  <a:srgbClr val="FFFFFF"/>
                </a:solidFill>
              </a:defRPr>
            </a:lvl5pPr>
            <a:lvl6pPr>
              <a:buNone/>
              <a:defRPr sz="3900" b="1">
                <a:solidFill>
                  <a:srgbClr val="FFFFFF"/>
                </a:solidFill>
              </a:defRPr>
            </a:lvl6pPr>
            <a:lvl7pPr>
              <a:buNone/>
              <a:defRPr sz="3900" b="1">
                <a:solidFill>
                  <a:srgbClr val="FFFFFF"/>
                </a:solidFill>
              </a:defRPr>
            </a:lvl7pPr>
            <a:lvl8pPr>
              <a:buNone/>
              <a:defRPr sz="3900" b="1">
                <a:solidFill>
                  <a:srgbClr val="FFFFFF"/>
                </a:solidFill>
              </a:defRPr>
            </a:lvl8pPr>
            <a:lvl9pPr>
              <a:buNone/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Campus delivery</a:t>
            </a:r>
          </a:p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route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6A432-9264-417F-8E49-B7EDB6E8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5850" y="35623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7E3EA"/>
                </a:solidFill>
              </a:defRPr>
            </a:defPPr>
            <a:lvl1pPr>
              <a:buNone/>
              <a:defRPr sz="1875" b="0">
                <a:solidFill>
                  <a:srgbClr val="D7E3EA"/>
                </a:solidFill>
              </a:defRPr>
            </a:lvl1pPr>
            <a:lvl2pPr>
              <a:buNone/>
              <a:defRPr sz="1875" b="0">
                <a:solidFill>
                  <a:srgbClr val="D7E3EA"/>
                </a:solidFill>
              </a:defRPr>
            </a:lvl2pPr>
            <a:lvl3pPr>
              <a:buNone/>
              <a:defRPr sz="1875" b="0">
                <a:solidFill>
                  <a:srgbClr val="D7E3EA"/>
                </a:solidFill>
              </a:defRPr>
            </a:lvl3pPr>
            <a:lvl4pPr>
              <a:buNone/>
              <a:defRPr sz="1875" b="0">
                <a:solidFill>
                  <a:srgbClr val="D7E3EA"/>
                </a:solidFill>
              </a:defRPr>
            </a:lvl4pPr>
            <a:lvl5pPr>
              <a:buNone/>
              <a:defRPr sz="1875" b="0">
                <a:solidFill>
                  <a:srgbClr val="D7E3EA"/>
                </a:solidFill>
              </a:defRPr>
            </a:lvl5pPr>
            <a:lvl6pPr>
              <a:buNone/>
              <a:defRPr sz="1875" b="0">
                <a:solidFill>
                  <a:srgbClr val="D7E3EA"/>
                </a:solidFill>
              </a:defRPr>
            </a:lvl6pPr>
            <a:lvl7pPr>
              <a:buNone/>
              <a:defRPr sz="1875" b="0">
                <a:solidFill>
                  <a:srgbClr val="D7E3EA"/>
                </a:solidFill>
              </a:defRPr>
            </a:lvl7pPr>
            <a:lvl8pPr>
              <a:buNone/>
              <a:defRPr sz="1875" b="0">
                <a:solidFill>
                  <a:srgbClr val="D7E3EA"/>
                </a:solidFill>
              </a:defRPr>
            </a:lvl8pPr>
            <a:lvl9pPr>
              <a:buNone/>
              <a:defRPr sz="1875" b="0">
                <a:solidFill>
                  <a:srgbClr val="D7E3EA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D7E3EA"/>
                </a:solidFill>
              </a:defRPr>
            </a:pPr>
            <a:r>
              <a:rPr sz="1875" b="0">
                <a:solidFill>
                  <a:srgbClr val="D7E3EA"/>
                </a:solidFill>
              </a:rPr>
              <a:t>A weighted road graph, shortest paths, and local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37EE5-6951-43DA-9932-EA34441F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5850" y="483870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buNone/>
              <a:defRPr sz="1425" b="0">
                <a:solidFill>
                  <a:srgbClr val="FFFFFF"/>
                </a:solidFill>
              </a:defRPr>
            </a:lvl1pPr>
            <a:lvl2pPr>
              <a:buNone/>
              <a:defRPr sz="1425" b="0">
                <a:solidFill>
                  <a:srgbClr val="FFFFFF"/>
                </a:solidFill>
              </a:defRPr>
            </a:lvl2pPr>
            <a:lvl3pPr>
              <a:buNone/>
              <a:defRPr sz="1425" b="0">
                <a:solidFill>
                  <a:srgbClr val="FFFFFF"/>
                </a:solidFill>
              </a:defRPr>
            </a:lvl3pPr>
            <a:lvl4pPr>
              <a:buNone/>
              <a:defRPr sz="1425" b="0">
                <a:solidFill>
                  <a:srgbClr val="FFFFFF"/>
                </a:solidFill>
              </a:defRPr>
            </a:lvl4pPr>
            <a:lvl5pPr>
              <a:buNone/>
              <a:defRPr sz="1425" b="0">
                <a:solidFill>
                  <a:srgbClr val="FFFFFF"/>
                </a:solidFill>
              </a:defRPr>
            </a:lvl5pPr>
            <a:lvl6pPr>
              <a:buNone/>
              <a:defRPr sz="1425" b="0">
                <a:solidFill>
                  <a:srgbClr val="FFFFFF"/>
                </a:solidFill>
              </a:defRPr>
            </a:lvl6pPr>
            <a:lvl7pPr>
              <a:buNone/>
              <a:defRPr sz="1425" b="0">
                <a:solidFill>
                  <a:srgbClr val="FFFFFF"/>
                </a:solidFill>
              </a:defRPr>
            </a:lvl7pPr>
            <a:lvl8pPr>
              <a:buNone/>
              <a:defRPr sz="1425" b="0">
                <a:solidFill>
                  <a:srgbClr val="FFFFFF"/>
                </a:solidFill>
              </a:defRPr>
            </a:lvl8pPr>
            <a:lvl9pPr>
              <a:buNone/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Objective: visit every delivery location and return to the depot with minimum distance.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AE7B7-75DF-4EEE-896F-8674B4D1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85850" y="6000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4C7D2"/>
                </a:solidFill>
              </a:defRPr>
            </a:defPPr>
            <a:lvl1pPr>
              <a:buNone/>
              <a:defRPr sz="1125" b="0">
                <a:solidFill>
                  <a:srgbClr val="B4C7D2"/>
                </a:solidFill>
              </a:defRPr>
            </a:lvl1pPr>
            <a:lvl2pPr>
              <a:buNone/>
              <a:defRPr sz="1125" b="0">
                <a:solidFill>
                  <a:srgbClr val="B4C7D2"/>
                </a:solidFill>
              </a:defRPr>
            </a:lvl2pPr>
            <a:lvl3pPr>
              <a:buNone/>
              <a:defRPr sz="1125" b="0">
                <a:solidFill>
                  <a:srgbClr val="B4C7D2"/>
                </a:solidFill>
              </a:defRPr>
            </a:lvl3pPr>
            <a:lvl4pPr>
              <a:buNone/>
              <a:defRPr sz="1125" b="0">
                <a:solidFill>
                  <a:srgbClr val="B4C7D2"/>
                </a:solidFill>
              </a:defRPr>
            </a:lvl4pPr>
            <a:lvl5pPr>
              <a:buNone/>
              <a:defRPr sz="1125" b="0">
                <a:solidFill>
                  <a:srgbClr val="B4C7D2"/>
                </a:solidFill>
              </a:defRPr>
            </a:lvl5pPr>
            <a:lvl6pPr>
              <a:buNone/>
              <a:defRPr sz="1125" b="0">
                <a:solidFill>
                  <a:srgbClr val="B4C7D2"/>
                </a:solidFill>
              </a:defRPr>
            </a:lvl6pPr>
            <a:lvl7pPr>
              <a:buNone/>
              <a:defRPr sz="1125" b="0">
                <a:solidFill>
                  <a:srgbClr val="B4C7D2"/>
                </a:solidFill>
              </a:defRPr>
            </a:lvl7pPr>
            <a:lvl8pPr>
              <a:buNone/>
              <a:defRPr sz="1125" b="0">
                <a:solidFill>
                  <a:srgbClr val="B4C7D2"/>
                </a:solidFill>
              </a:defRPr>
            </a:lvl8pPr>
            <a:lvl9pPr>
              <a:buNone/>
              <a:defRPr sz="1125" b="0">
                <a:solidFill>
                  <a:srgbClr val="B4C7D2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B4C7D2"/>
                </a:solidFill>
              </a:defRPr>
            </a:pPr>
            <a:r>
              <a:rPr sz="1125" b="0">
                <a:solidFill>
                  <a:srgbClr val="B4C7D2"/>
                </a:solidFill>
              </a:rPr>
              <a:t>Illustrative campus network • Python 3 • No external packages</a:t>
            </a:r>
          </a:p>
        </p:txBody>
      </p:sp>
    </p:spTree>
    <p:extLst>
      <p:ext uri="{BB962C8B-B14F-4D97-AF65-F5344CB8AC3E}">
        <p14:creationId xmlns:p14="http://schemas.microsoft.com/office/powerpoint/2010/main" val="1766356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al-side-rule">
            <a:extLst xmlns:a="http://schemas.openxmlformats.org/drawingml/2006/main">
              <a:ext uri="{FF2B5EF4-FFF2-40B4-BE49-F238E27FC236}">
                <a16:creationId xmlns:a16="http://schemas.microsoft.com/office/drawing/2014/main" id="{C4A07907-4034-42DE-A725-9D365691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29F4C4-E624-4C65-8EDE-5093AD14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Campus delivery scenario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8101E66-AC07-4358-8CB0-58ADE0B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7A808F-E2B5-4043-92E1-6ED58B38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060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scenario-intro">
            <a:extLst xmlns:a="http://schemas.openxmlformats.org/drawingml/2006/main">
              <a:ext uri="{FF2B5EF4-FFF2-40B4-BE49-F238E27FC236}">
                <a16:creationId xmlns:a16="http://schemas.microsoft.com/office/drawing/2014/main" id="{535533B4-47A8-4CCC-A4FD-D84E68B6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One campus vehicle serves six buildings and returns to Depot.</a:t>
            </a:r>
          </a:p>
        </p:txBody>
      </p:sp>
      <p:sp>
        <p:nvSpPr>
          <p:cNvPr id="6" name="network-label">
            <a:extLst xmlns:a="http://schemas.openxmlformats.org/drawingml/2006/main">
              <a:ext uri="{FF2B5EF4-FFF2-40B4-BE49-F238E27FC236}">
                <a16:creationId xmlns:a16="http://schemas.microsoft.com/office/drawing/2014/main" id="{DC3DE8A7-48E8-4509-8917-17422AE8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Network data</a:t>
            </a:r>
          </a:p>
        </p:txBody>
      </p:sp>
      <p:sp>
        <p:nvSpPr>
          <p:cNvPr id="7" name="network-detail">
            <a:extLst xmlns:a="http://schemas.openxmlformats.org/drawingml/2006/main">
              <a:ext uri="{FF2B5EF4-FFF2-40B4-BE49-F238E27FC236}">
                <a16:creationId xmlns:a16="http://schemas.microsoft.com/office/drawing/2014/main" id="{BAB44FE5-0758-4E91-9741-3104A0FD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14F"/>
                </a:solidFill>
                <a:latin typeface="Aptos"/>
                <a:ea typeface="Aptos"/>
                <a:cs typeface="Aptos"/>
              </a:rPr>
              <a:t>Seven locations form the road graph. Fourteen two-way roads carry positive distances in kilometres.</a:t>
            </a:r>
          </a:p>
        </p:txBody>
      </p:sp>
      <p:sp>
        <p:nvSpPr>
          <p:cNvPr id="8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552094DD-2810-4FF7-AA98-19B7CB7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Planning decision</a:t>
            </a:r>
          </a:p>
        </p:txBody>
      </p:sp>
      <p:sp>
        <p:nvSpPr>
          <p:cNvPr id="9" name="decision-detail">
            <a:extLst xmlns:a="http://schemas.openxmlformats.org/drawingml/2006/main">
              <a:ext uri="{FF2B5EF4-FFF2-40B4-BE49-F238E27FC236}">
                <a16:creationId xmlns:a16="http://schemas.microsoft.com/office/drawing/2014/main" id="{DB702F24-34DC-46B5-90D7-454532BC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14F"/>
                </a:solidFill>
                <a:latin typeface="Aptos"/>
                <a:ea typeface="Aptos"/>
                <a:cs typeface="Aptos"/>
              </a:rPr>
              <a:t>Choose a visit order that serves every non-depot location once and returns the vehicle to Depot.</a:t>
            </a:r>
          </a:p>
        </p:txBody>
      </p:sp>
      <p:sp>
        <p:nvSpPr>
          <p:cNvPr id="10" name="scenario-section-divider">
            <a:extLst xmlns:a="http://schemas.openxmlformats.org/drawingml/2006/main">
              <a:ext uri="{FF2B5EF4-FFF2-40B4-BE49-F238E27FC236}">
                <a16:creationId xmlns:a16="http://schemas.microsoft.com/office/drawing/2014/main" id="{C340DD8C-7655-47D4-AAC4-D7264D20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rtest-path-label">
            <a:extLst xmlns:a="http://schemas.openxmlformats.org/drawingml/2006/main">
              <a:ext uri="{FF2B5EF4-FFF2-40B4-BE49-F238E27FC236}">
                <a16:creationId xmlns:a16="http://schemas.microsoft.com/office/drawing/2014/main" id="{6EA13AF6-BDBE-4216-A51E-C9985575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Why shortest paths matter</a:t>
            </a:r>
          </a:p>
        </p:txBody>
      </p:sp>
      <p:sp>
        <p:nvSpPr>
          <p:cNvPr id="12" name="shortest-path-detail">
            <a:extLst xmlns:a="http://schemas.openxmlformats.org/drawingml/2006/main">
              <a:ext uri="{FF2B5EF4-FFF2-40B4-BE49-F238E27FC236}">
                <a16:creationId xmlns:a16="http://schemas.microsoft.com/office/drawing/2014/main" id="{9A51B9DB-1E26-43E5-A0A8-BB096BA5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Some stops do not share a direct road. Dijkstra finds the least-distance road path between each pair, so the tour cost reflects the campus network.</a:t>
            </a:r>
          </a:p>
        </p:txBody>
      </p:sp>
      <p:sp>
        <p:nvSpPr>
          <p:cNvPr id="13" name="scenario-assumption">
            <a:extLst xmlns:a="http://schemas.openxmlformats.org/drawingml/2006/main">
              <a:ext uri="{FF2B5EF4-FFF2-40B4-BE49-F238E27FC236}">
                <a16:creationId xmlns:a16="http://schemas.microsoft.com/office/drawing/2014/main" id="{EDC4080F-9333-4428-92F5-CC78279B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Distances are illustrative. The model assumes fixed road lengths and one vehicle, with no traffic or delivery windows.</a:t>
            </a:r>
          </a:p>
        </p:txBody>
      </p:sp>
    </p:spTree>
    <p:extLst>
      <p:ext uri="{BB962C8B-B14F-4D97-AF65-F5344CB8AC3E}">
        <p14:creationId xmlns:p14="http://schemas.microsoft.com/office/powerpoint/2010/main" val="810137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DE52F-1B25-4F4D-ABA3-33E4CDDC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955F9-A47D-4E1F-82BB-ABD15FA9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438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8314F"/>
                </a:solidFill>
              </a:defRPr>
            </a:defPPr>
            <a:lvl1pPr>
              <a:buNone/>
              <a:defRPr sz="2700" b="1">
                <a:solidFill>
                  <a:srgbClr val="18314F"/>
                </a:solidFill>
              </a:defRPr>
            </a:lvl1pPr>
            <a:lvl2pPr>
              <a:buNone/>
              <a:defRPr sz="2700" b="1">
                <a:solidFill>
                  <a:srgbClr val="18314F"/>
                </a:solidFill>
              </a:defRPr>
            </a:lvl2pPr>
            <a:lvl3pPr>
              <a:buNone/>
              <a:defRPr sz="2700" b="1">
                <a:solidFill>
                  <a:srgbClr val="18314F"/>
                </a:solidFill>
              </a:defRPr>
            </a:lvl3pPr>
            <a:lvl4pPr>
              <a:buNone/>
              <a:defRPr sz="2700" b="1">
                <a:solidFill>
                  <a:srgbClr val="18314F"/>
                </a:solidFill>
              </a:defRPr>
            </a:lvl4pPr>
            <a:lvl5pPr>
              <a:buNone/>
              <a:defRPr sz="2700" b="1">
                <a:solidFill>
                  <a:srgbClr val="18314F"/>
                </a:solidFill>
              </a:defRPr>
            </a:lvl5pPr>
            <a:lvl6pPr>
              <a:buNone/>
              <a:defRPr sz="2700" b="1">
                <a:solidFill>
                  <a:srgbClr val="18314F"/>
                </a:solidFill>
              </a:defRPr>
            </a:lvl6pPr>
            <a:lvl7pPr>
              <a:buNone/>
              <a:defRPr sz="2700" b="1">
                <a:solidFill>
                  <a:srgbClr val="18314F"/>
                </a:solidFill>
              </a:defRPr>
            </a:lvl7pPr>
            <a:lvl8pPr>
              <a:buNone/>
              <a:defRPr sz="2700" b="1">
                <a:solidFill>
                  <a:srgbClr val="18314F"/>
                </a:solidFill>
              </a:defRPr>
            </a:lvl8pPr>
            <a:lvl9pPr>
              <a:buNone/>
              <a:defRPr sz="270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8314F"/>
                </a:solidFill>
              </a:defRPr>
            </a:pPr>
            <a:r>
              <a:rPr sz="2700" b="1">
                <a:solidFill>
                  <a:srgbClr val="18314F"/>
                </a:solidFill>
              </a:rPr>
              <a:t>Delivery routing as an optimization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E64A4-498C-49BA-AD5D-228103F4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9D229-AB66-4172-872D-2789ECB6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06070"/>
                </a:solidFill>
              </a:defRPr>
            </a:defPPr>
            <a:lvl1pPr>
              <a:buNone/>
              <a:defRPr sz="1050" b="1">
                <a:solidFill>
                  <a:srgbClr val="506070"/>
                </a:solidFill>
              </a:defRPr>
            </a:lvl1pPr>
            <a:lvl2pPr>
              <a:buNone/>
              <a:defRPr sz="1050" b="1">
                <a:solidFill>
                  <a:srgbClr val="506070"/>
                </a:solidFill>
              </a:defRPr>
            </a:lvl2pPr>
            <a:lvl3pPr>
              <a:buNone/>
              <a:defRPr sz="1050" b="1">
                <a:solidFill>
                  <a:srgbClr val="506070"/>
                </a:solidFill>
              </a:defRPr>
            </a:lvl3pPr>
            <a:lvl4pPr>
              <a:buNone/>
              <a:defRPr sz="1050" b="1">
                <a:solidFill>
                  <a:srgbClr val="506070"/>
                </a:solidFill>
              </a:defRPr>
            </a:lvl4pPr>
            <a:lvl5pPr>
              <a:buNone/>
              <a:defRPr sz="1050" b="1">
                <a:solidFill>
                  <a:srgbClr val="506070"/>
                </a:solidFill>
              </a:defRPr>
            </a:lvl5pPr>
            <a:lvl6pPr>
              <a:buNone/>
              <a:defRPr sz="1050" b="1">
                <a:solidFill>
                  <a:srgbClr val="506070"/>
                </a:solidFill>
              </a:defRPr>
            </a:lvl6pPr>
            <a:lvl7pPr>
              <a:buNone/>
              <a:defRPr sz="1050" b="1">
                <a:solidFill>
                  <a:srgbClr val="506070"/>
                </a:solidFill>
              </a:defRPr>
            </a:lvl7pPr>
            <a:lvl8pPr>
              <a:buNone/>
              <a:defRPr sz="1050" b="1">
                <a:solidFill>
                  <a:srgbClr val="506070"/>
                </a:solidFill>
              </a:defRPr>
            </a:lvl8pPr>
            <a:lvl9pPr>
              <a:buNone/>
              <a:defRPr sz="1050" b="1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06070"/>
                </a:solidFill>
              </a:defRPr>
            </a:pPr>
            <a:r>
              <a:rPr sz="1050" b="1">
                <a:solidFill>
                  <a:srgbClr val="50607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EE7FE-F4B5-4F7A-BEAF-EB81E75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4478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070"/>
                </a:solidFill>
              </a:defRPr>
            </a:defPPr>
            <a:lvl1pPr>
              <a:buNone/>
              <a:defRPr sz="1725" b="0">
                <a:solidFill>
                  <a:srgbClr val="506070"/>
                </a:solidFill>
              </a:defRPr>
            </a:lvl1pPr>
            <a:lvl2pPr>
              <a:buNone/>
              <a:defRPr sz="1725" b="0">
                <a:solidFill>
                  <a:srgbClr val="506070"/>
                </a:solidFill>
              </a:defRPr>
            </a:lvl2pPr>
            <a:lvl3pPr>
              <a:buNone/>
              <a:defRPr sz="1725" b="0">
                <a:solidFill>
                  <a:srgbClr val="506070"/>
                </a:solidFill>
              </a:defRPr>
            </a:lvl3pPr>
            <a:lvl4pPr>
              <a:buNone/>
              <a:defRPr sz="1725" b="0">
                <a:solidFill>
                  <a:srgbClr val="506070"/>
                </a:solidFill>
              </a:defRPr>
            </a:lvl4pPr>
            <a:lvl5pPr>
              <a:buNone/>
              <a:defRPr sz="1725" b="0">
                <a:solidFill>
                  <a:srgbClr val="506070"/>
                </a:solidFill>
              </a:defRPr>
            </a:lvl5pPr>
            <a:lvl6pPr>
              <a:buNone/>
              <a:defRPr sz="1725" b="0">
                <a:solidFill>
                  <a:srgbClr val="506070"/>
                </a:solidFill>
              </a:defRPr>
            </a:lvl6pPr>
            <a:lvl7pPr>
              <a:buNone/>
              <a:defRPr sz="1725" b="0">
                <a:solidFill>
                  <a:srgbClr val="506070"/>
                </a:solidFill>
              </a:defRPr>
            </a:lvl7pPr>
            <a:lvl8pPr>
              <a:buNone/>
              <a:defRPr sz="1725" b="0">
                <a:solidFill>
                  <a:srgbClr val="506070"/>
                </a:solidFill>
              </a:defRPr>
            </a:lvl8pPr>
            <a:lvl9pPr>
              <a:buNone/>
              <a:defRPr sz="1725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06070"/>
                </a:solidFill>
              </a:defRPr>
            </a:pPr>
            <a:r>
              <a:rPr sz="1725" b="0">
                <a:solidFill>
                  <a:srgbClr val="506070"/>
                </a:solidFill>
              </a:rPr>
              <a:t>One vehicle must serve every campus building and return to its depot.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51D74-8849-491A-BA73-51D993B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22574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D9A"/>
                </a:solidFill>
              </a:defRPr>
            </a:defPPr>
            <a:lvl1pPr>
              <a:buNone/>
              <a:defRPr sz="1050" b="1">
                <a:solidFill>
                  <a:srgbClr val="167D9A"/>
                </a:solidFill>
              </a:defRPr>
            </a:lvl1pPr>
            <a:lvl2pPr>
              <a:buNone/>
              <a:defRPr sz="1050" b="1">
                <a:solidFill>
                  <a:srgbClr val="167D9A"/>
                </a:solidFill>
              </a:defRPr>
            </a:lvl2pPr>
            <a:lvl3pPr>
              <a:buNone/>
              <a:defRPr sz="1050" b="1">
                <a:solidFill>
                  <a:srgbClr val="167D9A"/>
                </a:solidFill>
              </a:defRPr>
            </a:lvl3pPr>
            <a:lvl4pPr>
              <a:buNone/>
              <a:defRPr sz="1050" b="1">
                <a:solidFill>
                  <a:srgbClr val="167D9A"/>
                </a:solidFill>
              </a:defRPr>
            </a:lvl4pPr>
            <a:lvl5pPr>
              <a:buNone/>
              <a:defRPr sz="1050" b="1">
                <a:solidFill>
                  <a:srgbClr val="167D9A"/>
                </a:solidFill>
              </a:defRPr>
            </a:lvl5pPr>
            <a:lvl6pPr>
              <a:buNone/>
              <a:defRPr sz="1050" b="1">
                <a:solidFill>
                  <a:srgbClr val="167D9A"/>
                </a:solidFill>
              </a:defRPr>
            </a:lvl6pPr>
            <a:lvl7pPr>
              <a:buNone/>
              <a:defRPr sz="1050" b="1">
                <a:solidFill>
                  <a:srgbClr val="167D9A"/>
                </a:solidFill>
              </a:defRPr>
            </a:lvl7pPr>
            <a:lvl8pPr>
              <a:buNone/>
              <a:defRPr sz="1050" b="1">
                <a:solidFill>
                  <a:srgbClr val="167D9A"/>
                </a:solidFill>
              </a:defRPr>
            </a:lvl8pPr>
            <a:lvl9pPr>
              <a:buNone/>
              <a:defRPr sz="1050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67D9A"/>
                </a:solidFill>
              </a:defRPr>
            </a:pPr>
            <a:r>
              <a:rPr sz="1050" b="1">
                <a:solidFill>
                  <a:srgbClr val="167D9A"/>
                </a:solidFill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4EF29-3B75-42EB-8F92-FB5C340E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26098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14F"/>
                </a:solidFill>
              </a:defRPr>
            </a:defPPr>
            <a:lvl1pPr>
              <a:buNone/>
              <a:defRPr sz="1950" b="1">
                <a:solidFill>
                  <a:srgbClr val="18314F"/>
                </a:solidFill>
              </a:defRPr>
            </a:lvl1pPr>
            <a:lvl2pPr>
              <a:buNone/>
              <a:defRPr sz="1950" b="1">
                <a:solidFill>
                  <a:srgbClr val="18314F"/>
                </a:solidFill>
              </a:defRPr>
            </a:lvl2pPr>
            <a:lvl3pPr>
              <a:buNone/>
              <a:defRPr sz="1950" b="1">
                <a:solidFill>
                  <a:srgbClr val="18314F"/>
                </a:solidFill>
              </a:defRPr>
            </a:lvl3pPr>
            <a:lvl4pPr>
              <a:buNone/>
              <a:defRPr sz="1950" b="1">
                <a:solidFill>
                  <a:srgbClr val="18314F"/>
                </a:solidFill>
              </a:defRPr>
            </a:lvl4pPr>
            <a:lvl5pPr>
              <a:buNone/>
              <a:defRPr sz="1950" b="1">
                <a:solidFill>
                  <a:srgbClr val="18314F"/>
                </a:solidFill>
              </a:defRPr>
            </a:lvl5pPr>
            <a:lvl6pPr>
              <a:buNone/>
              <a:defRPr sz="1950" b="1">
                <a:solidFill>
                  <a:srgbClr val="18314F"/>
                </a:solidFill>
              </a:defRPr>
            </a:lvl6pPr>
            <a:lvl7pPr>
              <a:buNone/>
              <a:defRPr sz="1950" b="1">
                <a:solidFill>
                  <a:srgbClr val="18314F"/>
                </a:solidFill>
              </a:defRPr>
            </a:lvl7pPr>
            <a:lvl8pPr>
              <a:buNone/>
              <a:defRPr sz="1950" b="1">
                <a:solidFill>
                  <a:srgbClr val="18314F"/>
                </a:solidFill>
              </a:defRPr>
            </a:lvl8pPr>
            <a:lvl9pPr>
              <a:buNone/>
              <a:defRPr sz="195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8314F"/>
                </a:solidFill>
              </a:defRPr>
            </a:pPr>
            <a:r>
              <a:rPr sz="1950" b="1">
                <a:solidFill>
                  <a:srgbClr val="18314F"/>
                </a:solidFill>
              </a:rPr>
              <a:t>Choose the visit order for all stops.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60682-9A92-4D8B-9E02-F05406C9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38900" y="22574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D9A"/>
                </a:solidFill>
              </a:defRPr>
            </a:defPPr>
            <a:lvl1pPr>
              <a:buNone/>
              <a:defRPr sz="1050" b="1">
                <a:solidFill>
                  <a:srgbClr val="167D9A"/>
                </a:solidFill>
              </a:defRPr>
            </a:lvl1pPr>
            <a:lvl2pPr>
              <a:buNone/>
              <a:defRPr sz="1050" b="1">
                <a:solidFill>
                  <a:srgbClr val="167D9A"/>
                </a:solidFill>
              </a:defRPr>
            </a:lvl2pPr>
            <a:lvl3pPr>
              <a:buNone/>
              <a:defRPr sz="1050" b="1">
                <a:solidFill>
                  <a:srgbClr val="167D9A"/>
                </a:solidFill>
              </a:defRPr>
            </a:lvl3pPr>
            <a:lvl4pPr>
              <a:buNone/>
              <a:defRPr sz="1050" b="1">
                <a:solidFill>
                  <a:srgbClr val="167D9A"/>
                </a:solidFill>
              </a:defRPr>
            </a:lvl4pPr>
            <a:lvl5pPr>
              <a:buNone/>
              <a:defRPr sz="1050" b="1">
                <a:solidFill>
                  <a:srgbClr val="167D9A"/>
                </a:solidFill>
              </a:defRPr>
            </a:lvl5pPr>
            <a:lvl6pPr>
              <a:buNone/>
              <a:defRPr sz="1050" b="1">
                <a:solidFill>
                  <a:srgbClr val="167D9A"/>
                </a:solidFill>
              </a:defRPr>
            </a:lvl6pPr>
            <a:lvl7pPr>
              <a:buNone/>
              <a:defRPr sz="1050" b="1">
                <a:solidFill>
                  <a:srgbClr val="167D9A"/>
                </a:solidFill>
              </a:defRPr>
            </a:lvl7pPr>
            <a:lvl8pPr>
              <a:buNone/>
              <a:defRPr sz="1050" b="1">
                <a:solidFill>
                  <a:srgbClr val="167D9A"/>
                </a:solidFill>
              </a:defRPr>
            </a:lvl8pPr>
            <a:lvl9pPr>
              <a:buNone/>
              <a:defRPr sz="1050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67D9A"/>
                </a:solidFill>
              </a:defRPr>
            </a:pPr>
            <a:r>
              <a:rPr sz="1050" b="1">
                <a:solidFill>
                  <a:srgbClr val="167D9A"/>
                </a:solidFill>
              </a:rPr>
              <a:t>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7DB17-375F-48C6-BB4A-3EA241E7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38900" y="26098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14F"/>
                </a:solidFill>
              </a:defRPr>
            </a:defPPr>
            <a:lvl1pPr>
              <a:buNone/>
              <a:defRPr sz="1950" b="1">
                <a:solidFill>
                  <a:srgbClr val="18314F"/>
                </a:solidFill>
              </a:defRPr>
            </a:lvl1pPr>
            <a:lvl2pPr>
              <a:buNone/>
              <a:defRPr sz="1950" b="1">
                <a:solidFill>
                  <a:srgbClr val="18314F"/>
                </a:solidFill>
              </a:defRPr>
            </a:lvl2pPr>
            <a:lvl3pPr>
              <a:buNone/>
              <a:defRPr sz="1950" b="1">
                <a:solidFill>
                  <a:srgbClr val="18314F"/>
                </a:solidFill>
              </a:defRPr>
            </a:lvl3pPr>
            <a:lvl4pPr>
              <a:buNone/>
              <a:defRPr sz="1950" b="1">
                <a:solidFill>
                  <a:srgbClr val="18314F"/>
                </a:solidFill>
              </a:defRPr>
            </a:lvl4pPr>
            <a:lvl5pPr>
              <a:buNone/>
              <a:defRPr sz="1950" b="1">
                <a:solidFill>
                  <a:srgbClr val="18314F"/>
                </a:solidFill>
              </a:defRPr>
            </a:lvl5pPr>
            <a:lvl6pPr>
              <a:buNone/>
              <a:defRPr sz="1950" b="1">
                <a:solidFill>
                  <a:srgbClr val="18314F"/>
                </a:solidFill>
              </a:defRPr>
            </a:lvl6pPr>
            <a:lvl7pPr>
              <a:buNone/>
              <a:defRPr sz="1950" b="1">
                <a:solidFill>
                  <a:srgbClr val="18314F"/>
                </a:solidFill>
              </a:defRPr>
            </a:lvl7pPr>
            <a:lvl8pPr>
              <a:buNone/>
              <a:defRPr sz="1950" b="1">
                <a:solidFill>
                  <a:srgbClr val="18314F"/>
                </a:solidFill>
              </a:defRPr>
            </a:lvl8pPr>
            <a:lvl9pPr>
              <a:buNone/>
              <a:defRPr sz="195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8314F"/>
                </a:solidFill>
              </a:defRPr>
            </a:pPr>
            <a:r>
              <a:rPr sz="1950" b="1">
                <a:solidFill>
                  <a:srgbClr val="18314F"/>
                </a:solidFill>
              </a:rPr>
              <a:t>Minimize the sum of shortest road distances.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4114B-947D-40F4-AD8A-C7138860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39433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8B983-3BD9-400C-A1E6-B1D1E59B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14F"/>
                </a:solidFill>
              </a:defRPr>
            </a:defPPr>
            <a:lvl1pPr>
              <a:buNone/>
              <a:defRPr sz="1500" b="1">
                <a:solidFill>
                  <a:srgbClr val="18314F"/>
                </a:solidFill>
              </a:defRPr>
            </a:lvl1pPr>
            <a:lvl2pPr>
              <a:buNone/>
              <a:defRPr sz="1500" b="1">
                <a:solidFill>
                  <a:srgbClr val="18314F"/>
                </a:solidFill>
              </a:defRPr>
            </a:lvl2pPr>
            <a:lvl3pPr>
              <a:buNone/>
              <a:defRPr sz="1500" b="1">
                <a:solidFill>
                  <a:srgbClr val="18314F"/>
                </a:solidFill>
              </a:defRPr>
            </a:lvl3pPr>
            <a:lvl4pPr>
              <a:buNone/>
              <a:defRPr sz="1500" b="1">
                <a:solidFill>
                  <a:srgbClr val="18314F"/>
                </a:solidFill>
              </a:defRPr>
            </a:lvl4pPr>
            <a:lvl5pPr>
              <a:buNone/>
              <a:defRPr sz="1500" b="1">
                <a:solidFill>
                  <a:srgbClr val="18314F"/>
                </a:solidFill>
              </a:defRPr>
            </a:lvl5pPr>
            <a:lvl6pPr>
              <a:buNone/>
              <a:defRPr sz="1500" b="1">
                <a:solidFill>
                  <a:srgbClr val="18314F"/>
                </a:solidFill>
              </a:defRPr>
            </a:lvl6pPr>
            <a:lvl7pPr>
              <a:buNone/>
              <a:defRPr sz="1500" b="1">
                <a:solidFill>
                  <a:srgbClr val="18314F"/>
                </a:solidFill>
              </a:defRPr>
            </a:lvl7pPr>
            <a:lvl8pPr>
              <a:buNone/>
              <a:defRPr sz="1500" b="1">
                <a:solidFill>
                  <a:srgbClr val="18314F"/>
                </a:solidFill>
              </a:defRPr>
            </a:lvl8pPr>
            <a:lvl9pPr>
              <a:buNone/>
              <a:defRPr sz="150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8314F"/>
                </a:solidFill>
              </a:defRPr>
            </a:pPr>
            <a:r>
              <a:rPr sz="1500" b="1">
                <a:solidFill>
                  <a:srgbClr val="18314F"/>
                </a:solidFill>
              </a:rPr>
              <a:t>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B18D5-B08A-459C-8E6A-9EF1FA0B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4752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06070"/>
                </a:solidFill>
              </a:defRPr>
            </a:defPPr>
            <a:lvl1pPr>
              <a:buNone/>
              <a:defRPr sz="1500" b="0">
                <a:solidFill>
                  <a:srgbClr val="506070"/>
                </a:solidFill>
              </a:defRPr>
            </a:lvl1pPr>
            <a:lvl2pPr>
              <a:buNone/>
              <a:defRPr sz="1500" b="0">
                <a:solidFill>
                  <a:srgbClr val="506070"/>
                </a:solidFill>
              </a:defRPr>
            </a:lvl2pPr>
            <a:lvl3pPr>
              <a:buNone/>
              <a:defRPr sz="1500" b="0">
                <a:solidFill>
                  <a:srgbClr val="506070"/>
                </a:solidFill>
              </a:defRPr>
            </a:lvl3pPr>
            <a:lvl4pPr>
              <a:buNone/>
              <a:defRPr sz="1500" b="0">
                <a:solidFill>
                  <a:srgbClr val="506070"/>
                </a:solidFill>
              </a:defRPr>
            </a:lvl4pPr>
            <a:lvl5pPr>
              <a:buNone/>
              <a:defRPr sz="1500" b="0">
                <a:solidFill>
                  <a:srgbClr val="506070"/>
                </a:solidFill>
              </a:defRPr>
            </a:lvl5pPr>
            <a:lvl6pPr>
              <a:buNone/>
              <a:defRPr sz="1500" b="0">
                <a:solidFill>
                  <a:srgbClr val="506070"/>
                </a:solidFill>
              </a:defRPr>
            </a:lvl6pPr>
            <a:lvl7pPr>
              <a:buNone/>
              <a:defRPr sz="1500" b="0">
                <a:solidFill>
                  <a:srgbClr val="506070"/>
                </a:solidFill>
              </a:defRPr>
            </a:lvl7pPr>
            <a:lvl8pPr>
              <a:buNone/>
              <a:defRPr sz="1500" b="0">
                <a:solidFill>
                  <a:srgbClr val="506070"/>
                </a:solidFill>
              </a:defRPr>
            </a:lvl8pPr>
            <a:lvl9pPr>
              <a:buNone/>
              <a:defRPr sz="15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06070"/>
                </a:solidFill>
              </a:defRPr>
            </a:pPr>
            <a:r>
              <a:rPr sz="1500" b="0">
                <a:solidFill>
                  <a:srgbClr val="506070"/>
                </a:solidFill>
              </a:rPr>
              <a:t>Start and end at Depot • Visit every other location once • Use connected roads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BDD5E-5B8C-41AE-8C64-648C124B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070"/>
                </a:solidFill>
              </a:defRPr>
            </a:defPPr>
            <a:lvl1pPr>
              <a:buNone/>
              <a:defRPr sz="1275" b="0">
                <a:solidFill>
                  <a:srgbClr val="506070"/>
                </a:solidFill>
              </a:defRPr>
            </a:lvl1pPr>
            <a:lvl2pPr>
              <a:buNone/>
              <a:defRPr sz="1275" b="0">
                <a:solidFill>
                  <a:srgbClr val="506070"/>
                </a:solidFill>
              </a:defRPr>
            </a:lvl2pPr>
            <a:lvl3pPr>
              <a:buNone/>
              <a:defRPr sz="1275" b="0">
                <a:solidFill>
                  <a:srgbClr val="506070"/>
                </a:solidFill>
              </a:defRPr>
            </a:lvl3pPr>
            <a:lvl4pPr>
              <a:buNone/>
              <a:defRPr sz="1275" b="0">
                <a:solidFill>
                  <a:srgbClr val="506070"/>
                </a:solidFill>
              </a:defRPr>
            </a:lvl4pPr>
            <a:lvl5pPr>
              <a:buNone/>
              <a:defRPr sz="1275" b="0">
                <a:solidFill>
                  <a:srgbClr val="506070"/>
                </a:solidFill>
              </a:defRPr>
            </a:lvl5pPr>
            <a:lvl6pPr>
              <a:buNone/>
              <a:defRPr sz="1275" b="0">
                <a:solidFill>
                  <a:srgbClr val="506070"/>
                </a:solidFill>
              </a:defRPr>
            </a:lvl6pPr>
            <a:lvl7pPr>
              <a:buNone/>
              <a:defRPr sz="1275" b="0">
                <a:solidFill>
                  <a:srgbClr val="506070"/>
                </a:solidFill>
              </a:defRPr>
            </a:lvl7pPr>
            <a:lvl8pPr>
              <a:buNone/>
              <a:defRPr sz="1275" b="0">
                <a:solidFill>
                  <a:srgbClr val="506070"/>
                </a:solidFill>
              </a:defRPr>
            </a:lvl8pPr>
            <a:lvl9pPr>
              <a:buNone/>
              <a:defRPr sz="1275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070"/>
                </a:solidFill>
              </a:defRPr>
            </a:pPr>
            <a:r>
              <a:rPr sz="1275" b="0">
                <a:solidFill>
                  <a:srgbClr val="506070"/>
                </a:solidFill>
              </a:rPr>
              <a:t>Assumption: one vehicle, fixed distances, no traffic or time windows.</a:t>
            </a:r>
          </a:p>
        </p:txBody>
      </p:sp>
    </p:spTree>
    <p:extLst>
      <p:ext uri="{BB962C8B-B14F-4D97-AF65-F5344CB8AC3E}">
        <p14:creationId xmlns:p14="http://schemas.microsoft.com/office/powerpoint/2010/main" val="353539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B3CECA-9022-43B5-B034-5DF7A579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33CB5-302F-452D-999A-0A490818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438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8314F"/>
                </a:solidFill>
              </a:defRPr>
            </a:defPPr>
            <a:lvl1pPr>
              <a:buNone/>
              <a:defRPr sz="2700" b="1">
                <a:solidFill>
                  <a:srgbClr val="18314F"/>
                </a:solidFill>
              </a:defRPr>
            </a:lvl1pPr>
            <a:lvl2pPr>
              <a:buNone/>
              <a:defRPr sz="2700" b="1">
                <a:solidFill>
                  <a:srgbClr val="18314F"/>
                </a:solidFill>
              </a:defRPr>
            </a:lvl2pPr>
            <a:lvl3pPr>
              <a:buNone/>
              <a:defRPr sz="2700" b="1">
                <a:solidFill>
                  <a:srgbClr val="18314F"/>
                </a:solidFill>
              </a:defRPr>
            </a:lvl3pPr>
            <a:lvl4pPr>
              <a:buNone/>
              <a:defRPr sz="2700" b="1">
                <a:solidFill>
                  <a:srgbClr val="18314F"/>
                </a:solidFill>
              </a:defRPr>
            </a:lvl4pPr>
            <a:lvl5pPr>
              <a:buNone/>
              <a:defRPr sz="2700" b="1">
                <a:solidFill>
                  <a:srgbClr val="18314F"/>
                </a:solidFill>
              </a:defRPr>
            </a:lvl5pPr>
            <a:lvl6pPr>
              <a:buNone/>
              <a:defRPr sz="2700" b="1">
                <a:solidFill>
                  <a:srgbClr val="18314F"/>
                </a:solidFill>
              </a:defRPr>
            </a:lvl6pPr>
            <a:lvl7pPr>
              <a:buNone/>
              <a:defRPr sz="2700" b="1">
                <a:solidFill>
                  <a:srgbClr val="18314F"/>
                </a:solidFill>
              </a:defRPr>
            </a:lvl7pPr>
            <a:lvl8pPr>
              <a:buNone/>
              <a:defRPr sz="2700" b="1">
                <a:solidFill>
                  <a:srgbClr val="18314F"/>
                </a:solidFill>
              </a:defRPr>
            </a:lvl8pPr>
            <a:lvl9pPr>
              <a:buNone/>
              <a:defRPr sz="270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8314F"/>
                </a:solidFill>
              </a:defRPr>
            </a:pPr>
            <a:r>
              <a:rPr sz="2700" b="1">
                <a:solidFill>
                  <a:srgbClr val="18314F"/>
                </a:solidFill>
              </a:rPr>
              <a:t>Road graph and shortest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8B223-A37F-4839-B08F-54A1BDD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D6D93-CA1D-43DD-8593-223C52D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06070"/>
                </a:solidFill>
              </a:defRPr>
            </a:defPPr>
            <a:lvl1pPr>
              <a:buNone/>
              <a:defRPr sz="1050" b="1">
                <a:solidFill>
                  <a:srgbClr val="506070"/>
                </a:solidFill>
              </a:defRPr>
            </a:lvl1pPr>
            <a:lvl2pPr>
              <a:buNone/>
              <a:defRPr sz="1050" b="1">
                <a:solidFill>
                  <a:srgbClr val="506070"/>
                </a:solidFill>
              </a:defRPr>
            </a:lvl2pPr>
            <a:lvl3pPr>
              <a:buNone/>
              <a:defRPr sz="1050" b="1">
                <a:solidFill>
                  <a:srgbClr val="506070"/>
                </a:solidFill>
              </a:defRPr>
            </a:lvl3pPr>
            <a:lvl4pPr>
              <a:buNone/>
              <a:defRPr sz="1050" b="1">
                <a:solidFill>
                  <a:srgbClr val="506070"/>
                </a:solidFill>
              </a:defRPr>
            </a:lvl4pPr>
            <a:lvl5pPr>
              <a:buNone/>
              <a:defRPr sz="1050" b="1">
                <a:solidFill>
                  <a:srgbClr val="506070"/>
                </a:solidFill>
              </a:defRPr>
            </a:lvl5pPr>
            <a:lvl6pPr>
              <a:buNone/>
              <a:defRPr sz="1050" b="1">
                <a:solidFill>
                  <a:srgbClr val="506070"/>
                </a:solidFill>
              </a:defRPr>
            </a:lvl6pPr>
            <a:lvl7pPr>
              <a:buNone/>
              <a:defRPr sz="1050" b="1">
                <a:solidFill>
                  <a:srgbClr val="506070"/>
                </a:solidFill>
              </a:defRPr>
            </a:lvl7pPr>
            <a:lvl8pPr>
              <a:buNone/>
              <a:defRPr sz="1050" b="1">
                <a:solidFill>
                  <a:srgbClr val="506070"/>
                </a:solidFill>
              </a:defRPr>
            </a:lvl8pPr>
            <a:lvl9pPr>
              <a:buNone/>
              <a:defRPr sz="1050" b="1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06070"/>
                </a:solidFill>
              </a:defRPr>
            </a:pPr>
            <a:r>
              <a:rPr sz="1050" b="1">
                <a:solidFill>
                  <a:srgbClr val="506070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44025-50D7-4985-8D41-A5606FC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3811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06070"/>
                </a:solidFill>
              </a:defRPr>
            </a:defPPr>
            <a:lvl1pPr>
              <a:buNone/>
              <a:defRPr sz="1500" b="0">
                <a:solidFill>
                  <a:srgbClr val="506070"/>
                </a:solidFill>
              </a:defRPr>
            </a:lvl1pPr>
            <a:lvl2pPr>
              <a:buNone/>
              <a:defRPr sz="1500" b="0">
                <a:solidFill>
                  <a:srgbClr val="506070"/>
                </a:solidFill>
              </a:defRPr>
            </a:lvl2pPr>
            <a:lvl3pPr>
              <a:buNone/>
              <a:defRPr sz="1500" b="0">
                <a:solidFill>
                  <a:srgbClr val="506070"/>
                </a:solidFill>
              </a:defRPr>
            </a:lvl3pPr>
            <a:lvl4pPr>
              <a:buNone/>
              <a:defRPr sz="1500" b="0">
                <a:solidFill>
                  <a:srgbClr val="506070"/>
                </a:solidFill>
              </a:defRPr>
            </a:lvl4pPr>
            <a:lvl5pPr>
              <a:buNone/>
              <a:defRPr sz="1500" b="0">
                <a:solidFill>
                  <a:srgbClr val="506070"/>
                </a:solidFill>
              </a:defRPr>
            </a:lvl5pPr>
            <a:lvl6pPr>
              <a:buNone/>
              <a:defRPr sz="1500" b="0">
                <a:solidFill>
                  <a:srgbClr val="506070"/>
                </a:solidFill>
              </a:defRPr>
            </a:lvl6pPr>
            <a:lvl7pPr>
              <a:buNone/>
              <a:defRPr sz="1500" b="0">
                <a:solidFill>
                  <a:srgbClr val="506070"/>
                </a:solidFill>
              </a:defRPr>
            </a:lvl7pPr>
            <a:lvl8pPr>
              <a:buNone/>
              <a:defRPr sz="1500" b="0">
                <a:solidFill>
                  <a:srgbClr val="506070"/>
                </a:solidFill>
              </a:defRPr>
            </a:lvl8pPr>
            <a:lvl9pPr>
              <a:buNone/>
              <a:defRPr sz="15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06070"/>
                </a:solidFill>
              </a:defRPr>
            </a:pPr>
            <a:r>
              <a:rPr sz="1500" b="0">
                <a:solidFill>
                  <a:srgbClr val="506070"/>
                </a:solidFill>
              </a:rPr>
              <a:t>7 locations • 14 two-way roads • edge weights are kilometres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6400D-10A5-40F6-9724-17FB71A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52550" y="2305050"/>
            <a:ext cx="22383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F1C23-1420-4FC0-830E-DCC0FC74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71738" y="2576513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1.2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7EF72-8E5B-4396-911D-C7164616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52550" y="3019425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DEBBE-1F2E-469D-86DA-F034A3B8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62350" y="2933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9B596-B46D-4A5B-B588-A2ABF870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52550" y="3019425"/>
            <a:ext cx="4429125" cy="195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F46B5-407C-4796-B786-A520379B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67113" y="3910013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2.5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D1EC7-6276-4E7F-8564-D77BA159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90925" y="2305050"/>
            <a:ext cx="21812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BA6CF-6F9D-4918-A965-56104673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81538" y="2576513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0.8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E5823-C666-48A5-B2E6-63487F8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3300" y="2305050"/>
            <a:ext cx="47625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7B698-0137-4A11-9F55-5E7741D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67113" y="3362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1.5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167D6-B4EB-468F-980D-D2F96CC9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90925" y="2305050"/>
            <a:ext cx="4333875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5EB26-A70B-4B47-8482-8D47C428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57863" y="3248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1.0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E4771-D49E-4562-B2F1-036A0563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72150" y="2228850"/>
            <a:ext cx="217170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AED9E-0BC0-4634-A03E-E5EB32DA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0" y="2538413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1.1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28032-49EE-40BA-BFF2-355F2284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3300" y="3019425"/>
            <a:ext cx="2228850" cy="157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5B800-66A8-4B10-8265-C0C03C0A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57725" y="3719513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1.0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02623-15B8-49F8-AD4D-DA135AF1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72150" y="3019425"/>
            <a:ext cx="2152650" cy="1343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A57C7-377B-412E-9201-D07CF350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48475" y="3605213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1.4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4DD74-BBA9-41BD-959D-643F288B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24800" y="2228850"/>
            <a:ext cx="19050" cy="2133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61AF3-E46D-4F9F-AA31-88875293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4325" y="32099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0.9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946A9-A1E2-4164-ABC7-56E23AA3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81675" y="2228850"/>
            <a:ext cx="2162175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7C31CF-9841-4086-AD4E-7310C9FE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62763" y="3514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1.7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AAA38-C420-4B4B-ADDE-C9B7EC34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81675" y="4362450"/>
            <a:ext cx="21431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B6278-DCC7-4C95-842A-0FBD1C95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3238" y="4581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1.3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70971F-28F3-41DE-91A3-844FA486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3300" y="4362450"/>
            <a:ext cx="438150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A040F5-5C04-4862-B8D1-07B8BD00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34050" y="43910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1.2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10DF84-52CC-4F1F-95FA-8F3E6660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3300" y="4591050"/>
            <a:ext cx="223837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A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E89B75-76D9-4DC0-AA5B-80729684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62488" y="46958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070"/>
                </a:solidFill>
              </a:defRPr>
            </a:defPPr>
            <a:lvl1pPr>
              <a:buNone/>
              <a:defRPr sz="900" b="0">
                <a:solidFill>
                  <a:srgbClr val="506070"/>
                </a:solidFill>
              </a:defRPr>
            </a:lvl1pPr>
            <a:lvl2pPr>
              <a:buNone/>
              <a:defRPr sz="900" b="0">
                <a:solidFill>
                  <a:srgbClr val="506070"/>
                </a:solidFill>
              </a:defRPr>
            </a:lvl2pPr>
            <a:lvl3pPr>
              <a:buNone/>
              <a:defRPr sz="900" b="0">
                <a:solidFill>
                  <a:srgbClr val="506070"/>
                </a:solidFill>
              </a:defRPr>
            </a:lvl3pPr>
            <a:lvl4pPr>
              <a:buNone/>
              <a:defRPr sz="900" b="0">
                <a:solidFill>
                  <a:srgbClr val="506070"/>
                </a:solidFill>
              </a:defRPr>
            </a:lvl4pPr>
            <a:lvl5pPr>
              <a:buNone/>
              <a:defRPr sz="900" b="0">
                <a:solidFill>
                  <a:srgbClr val="506070"/>
                </a:solidFill>
              </a:defRPr>
            </a:lvl5pPr>
            <a:lvl6pPr>
              <a:buNone/>
              <a:defRPr sz="900" b="0">
                <a:solidFill>
                  <a:srgbClr val="506070"/>
                </a:solidFill>
              </a:defRPr>
            </a:lvl6pPr>
            <a:lvl7pPr>
              <a:buNone/>
              <a:defRPr sz="900" b="0">
                <a:solidFill>
                  <a:srgbClr val="506070"/>
                </a:solidFill>
              </a:defRPr>
            </a:lvl7pPr>
            <a:lvl8pPr>
              <a:buNone/>
              <a:defRPr sz="900" b="0">
                <a:solidFill>
                  <a:srgbClr val="506070"/>
                </a:solidFill>
              </a:defRPr>
            </a:lvl8pPr>
            <a:lvl9pPr>
              <a:buNone/>
              <a:defRPr sz="9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06070"/>
                </a:solidFill>
              </a:defRPr>
            </a:pPr>
            <a:r>
              <a:rPr sz="900" b="0">
                <a:solidFill>
                  <a:srgbClr val="506070"/>
                </a:solidFill>
              </a:rPr>
              <a:t>2.2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458833-B381-4AE7-BAD6-B83FE580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8250" y="2905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FE8327-962D-46AA-BF4A-55D25089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4400" y="3190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8314F"/>
                </a:solidFill>
              </a:defRPr>
            </a:defPPr>
            <a:lvl1pPr>
              <a:buNone/>
              <a:defRPr sz="1125" b="1">
                <a:solidFill>
                  <a:srgbClr val="18314F"/>
                </a:solidFill>
              </a:defRPr>
            </a:lvl1pPr>
            <a:lvl2pPr>
              <a:buNone/>
              <a:defRPr sz="1125" b="1">
                <a:solidFill>
                  <a:srgbClr val="18314F"/>
                </a:solidFill>
              </a:defRPr>
            </a:lvl2pPr>
            <a:lvl3pPr>
              <a:buNone/>
              <a:defRPr sz="1125" b="1">
                <a:solidFill>
                  <a:srgbClr val="18314F"/>
                </a:solidFill>
              </a:defRPr>
            </a:lvl3pPr>
            <a:lvl4pPr>
              <a:buNone/>
              <a:defRPr sz="1125" b="1">
                <a:solidFill>
                  <a:srgbClr val="18314F"/>
                </a:solidFill>
              </a:defRPr>
            </a:lvl4pPr>
            <a:lvl5pPr>
              <a:buNone/>
              <a:defRPr sz="1125" b="1">
                <a:solidFill>
                  <a:srgbClr val="18314F"/>
                </a:solidFill>
              </a:defRPr>
            </a:lvl5pPr>
            <a:lvl6pPr>
              <a:buNone/>
              <a:defRPr sz="1125" b="1">
                <a:solidFill>
                  <a:srgbClr val="18314F"/>
                </a:solidFill>
              </a:defRPr>
            </a:lvl6pPr>
            <a:lvl7pPr>
              <a:buNone/>
              <a:defRPr sz="1125" b="1">
                <a:solidFill>
                  <a:srgbClr val="18314F"/>
                </a:solidFill>
              </a:defRPr>
            </a:lvl7pPr>
            <a:lvl8pPr>
              <a:buNone/>
              <a:defRPr sz="1125" b="1">
                <a:solidFill>
                  <a:srgbClr val="18314F"/>
                </a:solidFill>
              </a:defRPr>
            </a:lvl8pPr>
            <a:lvl9pPr>
              <a:buNone/>
              <a:defRPr sz="1125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8314F"/>
                </a:solidFill>
              </a:defRPr>
            </a:pPr>
            <a:r>
              <a:rPr sz="1125" b="1">
                <a:solidFill>
                  <a:srgbClr val="18314F"/>
                </a:solidFill>
              </a:rPr>
              <a:t>Depot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5E6ACD-0BCD-4FD9-8B28-0F0159DC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76625" y="2190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957E14-1C8F-444F-96D9-1CC4CE50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52775" y="24765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8314F"/>
                </a:solidFill>
              </a:defRPr>
            </a:defPPr>
            <a:lvl1pPr>
              <a:buNone/>
              <a:defRPr sz="1125" b="1">
                <a:solidFill>
                  <a:srgbClr val="18314F"/>
                </a:solidFill>
              </a:defRPr>
            </a:lvl1pPr>
            <a:lvl2pPr>
              <a:buNone/>
              <a:defRPr sz="1125" b="1">
                <a:solidFill>
                  <a:srgbClr val="18314F"/>
                </a:solidFill>
              </a:defRPr>
            </a:lvl2pPr>
            <a:lvl3pPr>
              <a:buNone/>
              <a:defRPr sz="1125" b="1">
                <a:solidFill>
                  <a:srgbClr val="18314F"/>
                </a:solidFill>
              </a:defRPr>
            </a:lvl3pPr>
            <a:lvl4pPr>
              <a:buNone/>
              <a:defRPr sz="1125" b="1">
                <a:solidFill>
                  <a:srgbClr val="18314F"/>
                </a:solidFill>
              </a:defRPr>
            </a:lvl4pPr>
            <a:lvl5pPr>
              <a:buNone/>
              <a:defRPr sz="1125" b="1">
                <a:solidFill>
                  <a:srgbClr val="18314F"/>
                </a:solidFill>
              </a:defRPr>
            </a:lvl5pPr>
            <a:lvl6pPr>
              <a:buNone/>
              <a:defRPr sz="1125" b="1">
                <a:solidFill>
                  <a:srgbClr val="18314F"/>
                </a:solidFill>
              </a:defRPr>
            </a:lvl6pPr>
            <a:lvl7pPr>
              <a:buNone/>
              <a:defRPr sz="1125" b="1">
                <a:solidFill>
                  <a:srgbClr val="18314F"/>
                </a:solidFill>
              </a:defRPr>
            </a:lvl7pPr>
            <a:lvl8pPr>
              <a:buNone/>
              <a:defRPr sz="1125" b="1">
                <a:solidFill>
                  <a:srgbClr val="18314F"/>
                </a:solidFill>
              </a:defRPr>
            </a:lvl8pPr>
            <a:lvl9pPr>
              <a:buNone/>
              <a:defRPr sz="1125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8314F"/>
                </a:solidFill>
              </a:defRPr>
            </a:pPr>
            <a:r>
              <a:rPr sz="1125" b="1">
                <a:solidFill>
                  <a:srgbClr val="18314F"/>
                </a:solidFill>
              </a:rPr>
              <a:t>Library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158DEE-312B-43F2-98DB-36DCAB58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7850" y="2905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8724B6-134A-40CB-9CB9-87C449D6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0" y="3190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8314F"/>
                </a:solidFill>
              </a:defRPr>
            </a:defPPr>
            <a:lvl1pPr>
              <a:buNone/>
              <a:defRPr sz="1125" b="1">
                <a:solidFill>
                  <a:srgbClr val="18314F"/>
                </a:solidFill>
              </a:defRPr>
            </a:lvl1pPr>
            <a:lvl2pPr>
              <a:buNone/>
              <a:defRPr sz="1125" b="1">
                <a:solidFill>
                  <a:srgbClr val="18314F"/>
                </a:solidFill>
              </a:defRPr>
            </a:lvl2pPr>
            <a:lvl3pPr>
              <a:buNone/>
              <a:defRPr sz="1125" b="1">
                <a:solidFill>
                  <a:srgbClr val="18314F"/>
                </a:solidFill>
              </a:defRPr>
            </a:lvl3pPr>
            <a:lvl4pPr>
              <a:buNone/>
              <a:defRPr sz="1125" b="1">
                <a:solidFill>
                  <a:srgbClr val="18314F"/>
                </a:solidFill>
              </a:defRPr>
            </a:lvl4pPr>
            <a:lvl5pPr>
              <a:buNone/>
              <a:defRPr sz="1125" b="1">
                <a:solidFill>
                  <a:srgbClr val="18314F"/>
                </a:solidFill>
              </a:defRPr>
            </a:lvl5pPr>
            <a:lvl6pPr>
              <a:buNone/>
              <a:defRPr sz="1125" b="1">
                <a:solidFill>
                  <a:srgbClr val="18314F"/>
                </a:solidFill>
              </a:defRPr>
            </a:lvl6pPr>
            <a:lvl7pPr>
              <a:buNone/>
              <a:defRPr sz="1125" b="1">
                <a:solidFill>
                  <a:srgbClr val="18314F"/>
                </a:solidFill>
              </a:defRPr>
            </a:lvl7pPr>
            <a:lvl8pPr>
              <a:buNone/>
              <a:defRPr sz="1125" b="1">
                <a:solidFill>
                  <a:srgbClr val="18314F"/>
                </a:solidFill>
              </a:defRPr>
            </a:lvl8pPr>
            <a:lvl9pPr>
              <a:buNone/>
              <a:defRPr sz="1125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8314F"/>
                </a:solidFill>
              </a:defRPr>
            </a:pPr>
            <a:r>
              <a:rPr sz="1125" b="1">
                <a:solidFill>
                  <a:srgbClr val="18314F"/>
                </a:solidFill>
              </a:rPr>
              <a:t>Engineering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14DB98-096E-4A0B-8BA8-96814382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829550" y="2114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CA7A07-E33A-4874-8841-F3952BE8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5700" y="24003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8314F"/>
                </a:solidFill>
              </a:defRPr>
            </a:defPPr>
            <a:lvl1pPr>
              <a:buNone/>
              <a:defRPr sz="1125" b="1">
                <a:solidFill>
                  <a:srgbClr val="18314F"/>
                </a:solidFill>
              </a:defRPr>
            </a:lvl1pPr>
            <a:lvl2pPr>
              <a:buNone/>
              <a:defRPr sz="1125" b="1">
                <a:solidFill>
                  <a:srgbClr val="18314F"/>
                </a:solidFill>
              </a:defRPr>
            </a:lvl2pPr>
            <a:lvl3pPr>
              <a:buNone/>
              <a:defRPr sz="1125" b="1">
                <a:solidFill>
                  <a:srgbClr val="18314F"/>
                </a:solidFill>
              </a:defRPr>
            </a:lvl3pPr>
            <a:lvl4pPr>
              <a:buNone/>
              <a:defRPr sz="1125" b="1">
                <a:solidFill>
                  <a:srgbClr val="18314F"/>
                </a:solidFill>
              </a:defRPr>
            </a:lvl4pPr>
            <a:lvl5pPr>
              <a:buNone/>
              <a:defRPr sz="1125" b="1">
                <a:solidFill>
                  <a:srgbClr val="18314F"/>
                </a:solidFill>
              </a:defRPr>
            </a:lvl5pPr>
            <a:lvl6pPr>
              <a:buNone/>
              <a:defRPr sz="1125" b="1">
                <a:solidFill>
                  <a:srgbClr val="18314F"/>
                </a:solidFill>
              </a:defRPr>
            </a:lvl6pPr>
            <a:lvl7pPr>
              <a:buNone/>
              <a:defRPr sz="1125" b="1">
                <a:solidFill>
                  <a:srgbClr val="18314F"/>
                </a:solidFill>
              </a:defRPr>
            </a:lvl7pPr>
            <a:lvl8pPr>
              <a:buNone/>
              <a:defRPr sz="1125" b="1">
                <a:solidFill>
                  <a:srgbClr val="18314F"/>
                </a:solidFill>
              </a:defRPr>
            </a:lvl8pPr>
            <a:lvl9pPr>
              <a:buNone/>
              <a:defRPr sz="1125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8314F"/>
                </a:solidFill>
              </a:defRPr>
            </a:pPr>
            <a:r>
              <a:rPr sz="1125" b="1">
                <a:solidFill>
                  <a:srgbClr val="18314F"/>
                </a:solidFill>
              </a:rPr>
              <a:t>Science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2788B4-2F89-4ED5-BCC3-6A56244B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810500" y="4248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9342D0-BA80-4C79-93DA-AF641BEA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86650" y="45339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8314F"/>
                </a:solidFill>
              </a:defRPr>
            </a:defPPr>
            <a:lvl1pPr>
              <a:buNone/>
              <a:defRPr sz="1125" b="1">
                <a:solidFill>
                  <a:srgbClr val="18314F"/>
                </a:solidFill>
              </a:defRPr>
            </a:lvl1pPr>
            <a:lvl2pPr>
              <a:buNone/>
              <a:defRPr sz="1125" b="1">
                <a:solidFill>
                  <a:srgbClr val="18314F"/>
                </a:solidFill>
              </a:defRPr>
            </a:lvl2pPr>
            <a:lvl3pPr>
              <a:buNone/>
              <a:defRPr sz="1125" b="1">
                <a:solidFill>
                  <a:srgbClr val="18314F"/>
                </a:solidFill>
              </a:defRPr>
            </a:lvl3pPr>
            <a:lvl4pPr>
              <a:buNone/>
              <a:defRPr sz="1125" b="1">
                <a:solidFill>
                  <a:srgbClr val="18314F"/>
                </a:solidFill>
              </a:defRPr>
            </a:lvl4pPr>
            <a:lvl5pPr>
              <a:buNone/>
              <a:defRPr sz="1125" b="1">
                <a:solidFill>
                  <a:srgbClr val="18314F"/>
                </a:solidFill>
              </a:defRPr>
            </a:lvl5pPr>
            <a:lvl6pPr>
              <a:buNone/>
              <a:defRPr sz="1125" b="1">
                <a:solidFill>
                  <a:srgbClr val="18314F"/>
                </a:solidFill>
              </a:defRPr>
            </a:lvl6pPr>
            <a:lvl7pPr>
              <a:buNone/>
              <a:defRPr sz="1125" b="1">
                <a:solidFill>
                  <a:srgbClr val="18314F"/>
                </a:solidFill>
              </a:defRPr>
            </a:lvl7pPr>
            <a:lvl8pPr>
              <a:buNone/>
              <a:defRPr sz="1125" b="1">
                <a:solidFill>
                  <a:srgbClr val="18314F"/>
                </a:solidFill>
              </a:defRPr>
            </a:lvl8pPr>
            <a:lvl9pPr>
              <a:buNone/>
              <a:defRPr sz="1125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8314F"/>
                </a:solidFill>
              </a:defRPr>
            </a:pPr>
            <a:r>
              <a:rPr sz="1125" b="1">
                <a:solidFill>
                  <a:srgbClr val="18314F"/>
                </a:solidFill>
              </a:rPr>
              <a:t>Cafeteria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9AD475-CDDE-4685-846E-FDD3A125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67375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045154-01DA-4DB2-A7B1-00B4544A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3525" y="51435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8314F"/>
                </a:solidFill>
              </a:defRPr>
            </a:defPPr>
            <a:lvl1pPr>
              <a:buNone/>
              <a:defRPr sz="1125" b="1">
                <a:solidFill>
                  <a:srgbClr val="18314F"/>
                </a:solidFill>
              </a:defRPr>
            </a:lvl1pPr>
            <a:lvl2pPr>
              <a:buNone/>
              <a:defRPr sz="1125" b="1">
                <a:solidFill>
                  <a:srgbClr val="18314F"/>
                </a:solidFill>
              </a:defRPr>
            </a:lvl2pPr>
            <a:lvl3pPr>
              <a:buNone/>
              <a:defRPr sz="1125" b="1">
                <a:solidFill>
                  <a:srgbClr val="18314F"/>
                </a:solidFill>
              </a:defRPr>
            </a:lvl3pPr>
            <a:lvl4pPr>
              <a:buNone/>
              <a:defRPr sz="1125" b="1">
                <a:solidFill>
                  <a:srgbClr val="18314F"/>
                </a:solidFill>
              </a:defRPr>
            </a:lvl4pPr>
            <a:lvl5pPr>
              <a:buNone/>
              <a:defRPr sz="1125" b="1">
                <a:solidFill>
                  <a:srgbClr val="18314F"/>
                </a:solidFill>
              </a:defRPr>
            </a:lvl5pPr>
            <a:lvl6pPr>
              <a:buNone/>
              <a:defRPr sz="1125" b="1">
                <a:solidFill>
                  <a:srgbClr val="18314F"/>
                </a:solidFill>
              </a:defRPr>
            </a:lvl6pPr>
            <a:lvl7pPr>
              <a:buNone/>
              <a:defRPr sz="1125" b="1">
                <a:solidFill>
                  <a:srgbClr val="18314F"/>
                </a:solidFill>
              </a:defRPr>
            </a:lvl7pPr>
            <a:lvl8pPr>
              <a:buNone/>
              <a:defRPr sz="1125" b="1">
                <a:solidFill>
                  <a:srgbClr val="18314F"/>
                </a:solidFill>
              </a:defRPr>
            </a:lvl8pPr>
            <a:lvl9pPr>
              <a:buNone/>
              <a:defRPr sz="1125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8314F"/>
                </a:solidFill>
              </a:defRPr>
            </a:pPr>
            <a:r>
              <a:rPr sz="1125" b="1">
                <a:solidFill>
                  <a:srgbClr val="18314F"/>
                </a:solidFill>
              </a:rPr>
              <a:t>Hostel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B21CCF-2BCA-42EB-BE05-A28B816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29000" y="4476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1FA602-7335-4562-A34A-9CECA504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05150" y="47625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8314F"/>
                </a:solidFill>
              </a:defRPr>
            </a:defPPr>
            <a:lvl1pPr>
              <a:buNone/>
              <a:defRPr sz="1125" b="1">
                <a:solidFill>
                  <a:srgbClr val="18314F"/>
                </a:solidFill>
              </a:defRPr>
            </a:lvl1pPr>
            <a:lvl2pPr>
              <a:buNone/>
              <a:defRPr sz="1125" b="1">
                <a:solidFill>
                  <a:srgbClr val="18314F"/>
                </a:solidFill>
              </a:defRPr>
            </a:lvl2pPr>
            <a:lvl3pPr>
              <a:buNone/>
              <a:defRPr sz="1125" b="1">
                <a:solidFill>
                  <a:srgbClr val="18314F"/>
                </a:solidFill>
              </a:defRPr>
            </a:lvl3pPr>
            <a:lvl4pPr>
              <a:buNone/>
              <a:defRPr sz="1125" b="1">
                <a:solidFill>
                  <a:srgbClr val="18314F"/>
                </a:solidFill>
              </a:defRPr>
            </a:lvl4pPr>
            <a:lvl5pPr>
              <a:buNone/>
              <a:defRPr sz="1125" b="1">
                <a:solidFill>
                  <a:srgbClr val="18314F"/>
                </a:solidFill>
              </a:defRPr>
            </a:lvl5pPr>
            <a:lvl6pPr>
              <a:buNone/>
              <a:defRPr sz="1125" b="1">
                <a:solidFill>
                  <a:srgbClr val="18314F"/>
                </a:solidFill>
              </a:defRPr>
            </a:lvl6pPr>
            <a:lvl7pPr>
              <a:buNone/>
              <a:defRPr sz="1125" b="1">
                <a:solidFill>
                  <a:srgbClr val="18314F"/>
                </a:solidFill>
              </a:defRPr>
            </a:lvl7pPr>
            <a:lvl8pPr>
              <a:buNone/>
              <a:defRPr sz="1125" b="1">
                <a:solidFill>
                  <a:srgbClr val="18314F"/>
                </a:solidFill>
              </a:defRPr>
            </a:lvl8pPr>
            <a:lvl9pPr>
              <a:buNone/>
              <a:defRPr sz="1125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8314F"/>
                </a:solidFill>
              </a:defRPr>
            </a:pPr>
            <a:r>
              <a:rPr sz="1125" b="1">
                <a:solidFill>
                  <a:srgbClr val="18314F"/>
                </a:solidFill>
              </a:rPr>
              <a:t>Admin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704DD7-B01C-4C16-A46E-AFD64AE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5810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070"/>
                </a:solidFill>
              </a:defRPr>
            </a:defPPr>
            <a:lvl1pPr>
              <a:buNone/>
              <a:defRPr sz="1275" b="0">
                <a:solidFill>
                  <a:srgbClr val="506070"/>
                </a:solidFill>
              </a:defRPr>
            </a:lvl1pPr>
            <a:lvl2pPr>
              <a:buNone/>
              <a:defRPr sz="1275" b="0">
                <a:solidFill>
                  <a:srgbClr val="506070"/>
                </a:solidFill>
              </a:defRPr>
            </a:lvl2pPr>
            <a:lvl3pPr>
              <a:buNone/>
              <a:defRPr sz="1275" b="0">
                <a:solidFill>
                  <a:srgbClr val="506070"/>
                </a:solidFill>
              </a:defRPr>
            </a:lvl3pPr>
            <a:lvl4pPr>
              <a:buNone/>
              <a:defRPr sz="1275" b="0">
                <a:solidFill>
                  <a:srgbClr val="506070"/>
                </a:solidFill>
              </a:defRPr>
            </a:lvl4pPr>
            <a:lvl5pPr>
              <a:buNone/>
              <a:defRPr sz="1275" b="0">
                <a:solidFill>
                  <a:srgbClr val="506070"/>
                </a:solidFill>
              </a:defRPr>
            </a:lvl5pPr>
            <a:lvl6pPr>
              <a:buNone/>
              <a:defRPr sz="1275" b="0">
                <a:solidFill>
                  <a:srgbClr val="506070"/>
                </a:solidFill>
              </a:defRPr>
            </a:lvl6pPr>
            <a:lvl7pPr>
              <a:buNone/>
              <a:defRPr sz="1275" b="0">
                <a:solidFill>
                  <a:srgbClr val="506070"/>
                </a:solidFill>
              </a:defRPr>
            </a:lvl7pPr>
            <a:lvl8pPr>
              <a:buNone/>
              <a:defRPr sz="1275" b="0">
                <a:solidFill>
                  <a:srgbClr val="506070"/>
                </a:solidFill>
              </a:defRPr>
            </a:lvl8pPr>
            <a:lvl9pPr>
              <a:buNone/>
              <a:defRPr sz="1275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070"/>
                </a:solidFill>
              </a:defRPr>
            </a:pPr>
            <a:r>
              <a:rPr sz="1275" b="0">
                <a:solidFill>
                  <a:srgbClr val="506070"/>
                </a:solidFill>
              </a:rPr>
              <a:t>Dijkstra computes least-distance road paths; these distances price each leg in the tour.</a:t>
            </a:r>
          </a:p>
        </p:txBody>
      </p:sp>
    </p:spTree>
    <p:extLst>
      <p:ext uri="{BB962C8B-B14F-4D97-AF65-F5344CB8AC3E}">
        <p14:creationId xmlns:p14="http://schemas.microsoft.com/office/powerpoint/2010/main" val="1316805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al-side-rule">
            <a:extLst xmlns:a="http://schemas.openxmlformats.org/drawingml/2006/main">
              <a:ext uri="{FF2B5EF4-FFF2-40B4-BE49-F238E27FC236}">
                <a16:creationId xmlns:a16="http://schemas.microsoft.com/office/drawing/2014/main" id="{65A7BE73-4B7D-4877-8DC2-0D3D2DCB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C4FE54-FA82-4FA2-9312-340ED6BB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Graph theory concepts used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EEEDEA7-E6BB-438D-9138-94C8D233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90CD06A-BC23-4A8A-AF01-D030B7AF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060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concepts-intro">
            <a:extLst xmlns:a="http://schemas.openxmlformats.org/drawingml/2006/main">
              <a:ext uri="{FF2B5EF4-FFF2-40B4-BE49-F238E27FC236}">
                <a16:creationId xmlns:a16="http://schemas.microsoft.com/office/drawing/2014/main" id="{A741C605-C8A5-4E8B-9E6A-3B985010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Each graph concept has a specific role in the route calculation.</a:t>
            </a:r>
          </a:p>
        </p:txBody>
      </p:sp>
      <p:sp>
        <p:nvSpPr>
          <p:cNvPr id="6" name="weighted-graph-label">
            <a:extLst xmlns:a="http://schemas.openxmlformats.org/drawingml/2006/main">
              <a:ext uri="{FF2B5EF4-FFF2-40B4-BE49-F238E27FC236}">
                <a16:creationId xmlns:a16="http://schemas.microsoft.com/office/drawing/2014/main" id="{0EF861BC-5571-45A8-8622-D280201B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Weighted graph</a:t>
            </a:r>
          </a:p>
        </p:txBody>
      </p:sp>
      <p:sp>
        <p:nvSpPr>
          <p:cNvPr id="7" name="weighted-graph-detail">
            <a:extLst xmlns:a="http://schemas.openxmlformats.org/drawingml/2006/main">
              <a:ext uri="{FF2B5EF4-FFF2-40B4-BE49-F238E27FC236}">
                <a16:creationId xmlns:a16="http://schemas.microsoft.com/office/drawing/2014/main" id="{369DBF11-D486-4B39-9FD7-896513D0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14F"/>
                </a:solidFill>
                <a:latin typeface="Aptos"/>
                <a:ea typeface="Aptos"/>
                <a:cs typeface="Aptos"/>
              </a:rPr>
              <a:t>Each road edge stores a positive distance. The tour cost adds those weights across its route.</a:t>
            </a:r>
          </a:p>
        </p:txBody>
      </p:sp>
      <p:sp>
        <p:nvSpPr>
          <p:cNvPr id="8" name="undirected-label">
            <a:extLst xmlns:a="http://schemas.openxmlformats.org/drawingml/2006/main">
              <a:ext uri="{FF2B5EF4-FFF2-40B4-BE49-F238E27FC236}">
                <a16:creationId xmlns:a16="http://schemas.microsoft.com/office/drawing/2014/main" id="{CB2F7F3D-648B-4150-BC83-0BE38013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Undirected roads</a:t>
            </a:r>
          </a:p>
        </p:txBody>
      </p:sp>
      <p:sp>
        <p:nvSpPr>
          <p:cNvPr id="9" name="undirected-detail">
            <a:extLst xmlns:a="http://schemas.openxmlformats.org/drawingml/2006/main">
              <a:ext uri="{FF2B5EF4-FFF2-40B4-BE49-F238E27FC236}">
                <a16:creationId xmlns:a16="http://schemas.microsoft.com/office/drawing/2014/main" id="{894B2DBC-3863-4B3C-8F74-4DDA5C1B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14F"/>
                </a:solidFill>
                <a:latin typeface="Aptos"/>
                <a:ea typeface="Aptos"/>
                <a:cs typeface="Aptos"/>
              </a:rPr>
              <a:t>A road can be travelled in either direction, so the graph records each link for both endpoints.</a:t>
            </a:r>
          </a:p>
        </p:txBody>
      </p:sp>
      <p:sp>
        <p:nvSpPr>
          <p:cNvPr id="10" name="shortest-paths-label">
            <a:extLst xmlns:a="http://schemas.openxmlformats.org/drawingml/2006/main">
              <a:ext uri="{FF2B5EF4-FFF2-40B4-BE49-F238E27FC236}">
                <a16:creationId xmlns:a16="http://schemas.microsoft.com/office/drawing/2014/main" id="{F9A6E10A-DF68-42FD-9539-ED6E3CB4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Shortest paths</a:t>
            </a:r>
          </a:p>
        </p:txBody>
      </p:sp>
      <p:sp>
        <p:nvSpPr>
          <p:cNvPr id="11" name="shortest-paths-detail">
            <a:extLst xmlns:a="http://schemas.openxmlformats.org/drawingml/2006/main">
              <a:ext uri="{FF2B5EF4-FFF2-40B4-BE49-F238E27FC236}">
                <a16:creationId xmlns:a16="http://schemas.microsoft.com/office/drawing/2014/main" id="{8C9AB024-4185-42C6-B243-930E1A26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14F"/>
                </a:solidFill>
                <a:latin typeface="Aptos"/>
                <a:ea typeface="Aptos"/>
                <a:cs typeface="Aptos"/>
              </a:rPr>
              <a:t>Dijkstra compares road alternatives and finds the least-distance path between two locations.</a:t>
            </a:r>
          </a:p>
        </p:txBody>
      </p:sp>
      <p:sp>
        <p:nvSpPr>
          <p:cNvPr id="12" name="connectivity-cycle-label">
            <a:extLst xmlns:a="http://schemas.openxmlformats.org/drawingml/2006/main">
              <a:ext uri="{FF2B5EF4-FFF2-40B4-BE49-F238E27FC236}">
                <a16:creationId xmlns:a16="http://schemas.microsoft.com/office/drawing/2014/main" id="{587598ED-1DF0-4971-86EA-7F3FA21F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Connectivity and cycle</a:t>
            </a:r>
          </a:p>
        </p:txBody>
      </p:sp>
      <p:sp>
        <p:nvSpPr>
          <p:cNvPr id="13" name="connectivity-cycle-detail">
            <a:extLst xmlns:a="http://schemas.openxmlformats.org/drawingml/2006/main">
              <a:ext uri="{FF2B5EF4-FFF2-40B4-BE49-F238E27FC236}">
                <a16:creationId xmlns:a16="http://schemas.microsoft.com/office/drawing/2014/main" id="{392658CE-56AB-4067-82B3-2DC07AB5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14F"/>
                </a:solidFill>
                <a:latin typeface="Aptos"/>
                <a:ea typeface="Aptos"/>
                <a:cs typeface="Aptos"/>
              </a:rPr>
              <a:t>Connected paths make all stops reachable. A delivery tour visits every stop and closes at Depot.</a:t>
            </a:r>
          </a:p>
        </p:txBody>
      </p:sp>
      <p:sp>
        <p:nvSpPr>
          <p:cNvPr id="14" name="concepts-summary">
            <a:extLst xmlns:a="http://schemas.openxmlformats.org/drawingml/2006/main">
              <a:ext uri="{FF2B5EF4-FFF2-40B4-BE49-F238E27FC236}">
                <a16:creationId xmlns:a16="http://schemas.microsoft.com/office/drawing/2014/main" id="{42BA59A2-D6CD-4CFE-A06B-2A05D25E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These concepts support both a valid route and a meaningful distance comparison.</a:t>
            </a:r>
          </a:p>
        </p:txBody>
      </p:sp>
    </p:spTree>
    <p:extLst>
      <p:ext uri="{BB962C8B-B14F-4D97-AF65-F5344CB8AC3E}">
        <p14:creationId xmlns:p14="http://schemas.microsoft.com/office/powerpoint/2010/main" val="1561945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3DD43-024F-4C65-83E2-2EDFEB73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F6C0F-A866-485B-BF3F-942D3E46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438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8314F"/>
                </a:solidFill>
              </a:defRPr>
            </a:defPPr>
            <a:lvl1pPr>
              <a:buNone/>
              <a:defRPr sz="2700" b="1">
                <a:solidFill>
                  <a:srgbClr val="18314F"/>
                </a:solidFill>
              </a:defRPr>
            </a:lvl1pPr>
            <a:lvl2pPr>
              <a:buNone/>
              <a:defRPr sz="2700" b="1">
                <a:solidFill>
                  <a:srgbClr val="18314F"/>
                </a:solidFill>
              </a:defRPr>
            </a:lvl2pPr>
            <a:lvl3pPr>
              <a:buNone/>
              <a:defRPr sz="2700" b="1">
                <a:solidFill>
                  <a:srgbClr val="18314F"/>
                </a:solidFill>
              </a:defRPr>
            </a:lvl3pPr>
            <a:lvl4pPr>
              <a:buNone/>
              <a:defRPr sz="2700" b="1">
                <a:solidFill>
                  <a:srgbClr val="18314F"/>
                </a:solidFill>
              </a:defRPr>
            </a:lvl4pPr>
            <a:lvl5pPr>
              <a:buNone/>
              <a:defRPr sz="2700" b="1">
                <a:solidFill>
                  <a:srgbClr val="18314F"/>
                </a:solidFill>
              </a:defRPr>
            </a:lvl5pPr>
            <a:lvl6pPr>
              <a:buNone/>
              <a:defRPr sz="2700" b="1">
                <a:solidFill>
                  <a:srgbClr val="18314F"/>
                </a:solidFill>
              </a:defRPr>
            </a:lvl6pPr>
            <a:lvl7pPr>
              <a:buNone/>
              <a:defRPr sz="2700" b="1">
                <a:solidFill>
                  <a:srgbClr val="18314F"/>
                </a:solidFill>
              </a:defRPr>
            </a:lvl7pPr>
            <a:lvl8pPr>
              <a:buNone/>
              <a:defRPr sz="2700" b="1">
                <a:solidFill>
                  <a:srgbClr val="18314F"/>
                </a:solidFill>
              </a:defRPr>
            </a:lvl8pPr>
            <a:lvl9pPr>
              <a:buNone/>
              <a:defRPr sz="270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8314F"/>
                </a:solidFill>
              </a:defRPr>
            </a:pPr>
            <a:r>
              <a:rPr sz="2700" b="1">
                <a:solidFill>
                  <a:srgbClr val="18314F"/>
                </a:solidFill>
              </a:rPr>
              <a:t>Greedy starting tour, then 2-opt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E1B54-0393-4874-8A78-109F0E59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091A6-9216-4050-B476-07350886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06070"/>
                </a:solidFill>
              </a:defRPr>
            </a:defPPr>
            <a:lvl1pPr>
              <a:buNone/>
              <a:defRPr sz="1050" b="1">
                <a:solidFill>
                  <a:srgbClr val="506070"/>
                </a:solidFill>
              </a:defRPr>
            </a:lvl1pPr>
            <a:lvl2pPr>
              <a:buNone/>
              <a:defRPr sz="1050" b="1">
                <a:solidFill>
                  <a:srgbClr val="506070"/>
                </a:solidFill>
              </a:defRPr>
            </a:lvl2pPr>
            <a:lvl3pPr>
              <a:buNone/>
              <a:defRPr sz="1050" b="1">
                <a:solidFill>
                  <a:srgbClr val="506070"/>
                </a:solidFill>
              </a:defRPr>
            </a:lvl3pPr>
            <a:lvl4pPr>
              <a:buNone/>
              <a:defRPr sz="1050" b="1">
                <a:solidFill>
                  <a:srgbClr val="506070"/>
                </a:solidFill>
              </a:defRPr>
            </a:lvl4pPr>
            <a:lvl5pPr>
              <a:buNone/>
              <a:defRPr sz="1050" b="1">
                <a:solidFill>
                  <a:srgbClr val="506070"/>
                </a:solidFill>
              </a:defRPr>
            </a:lvl5pPr>
            <a:lvl6pPr>
              <a:buNone/>
              <a:defRPr sz="1050" b="1">
                <a:solidFill>
                  <a:srgbClr val="506070"/>
                </a:solidFill>
              </a:defRPr>
            </a:lvl6pPr>
            <a:lvl7pPr>
              <a:buNone/>
              <a:defRPr sz="1050" b="1">
                <a:solidFill>
                  <a:srgbClr val="506070"/>
                </a:solidFill>
              </a:defRPr>
            </a:lvl7pPr>
            <a:lvl8pPr>
              <a:buNone/>
              <a:defRPr sz="1050" b="1">
                <a:solidFill>
                  <a:srgbClr val="506070"/>
                </a:solidFill>
              </a:defRPr>
            </a:lvl8pPr>
            <a:lvl9pPr>
              <a:buNone/>
              <a:defRPr sz="1050" b="1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06070"/>
                </a:solidFill>
              </a:defRPr>
            </a:pPr>
            <a:r>
              <a:rPr sz="1050" b="1">
                <a:solidFill>
                  <a:srgbClr val="506070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F8CB2-A6CA-4E7D-A1D8-CA5D0854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476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7D9A"/>
                </a:solidFill>
              </a:defRPr>
            </a:defPPr>
            <a:lvl1pPr>
              <a:buNone/>
              <a:defRPr sz="1650" b="1">
                <a:solidFill>
                  <a:srgbClr val="167D9A"/>
                </a:solidFill>
              </a:defRPr>
            </a:lvl1pPr>
            <a:lvl2pPr>
              <a:buNone/>
              <a:defRPr sz="1650" b="1">
                <a:solidFill>
                  <a:srgbClr val="167D9A"/>
                </a:solidFill>
              </a:defRPr>
            </a:lvl2pPr>
            <a:lvl3pPr>
              <a:buNone/>
              <a:defRPr sz="1650" b="1">
                <a:solidFill>
                  <a:srgbClr val="167D9A"/>
                </a:solidFill>
              </a:defRPr>
            </a:lvl3pPr>
            <a:lvl4pPr>
              <a:buNone/>
              <a:defRPr sz="1650" b="1">
                <a:solidFill>
                  <a:srgbClr val="167D9A"/>
                </a:solidFill>
              </a:defRPr>
            </a:lvl4pPr>
            <a:lvl5pPr>
              <a:buNone/>
              <a:defRPr sz="1650" b="1">
                <a:solidFill>
                  <a:srgbClr val="167D9A"/>
                </a:solidFill>
              </a:defRPr>
            </a:lvl5pPr>
            <a:lvl6pPr>
              <a:buNone/>
              <a:defRPr sz="1650" b="1">
                <a:solidFill>
                  <a:srgbClr val="167D9A"/>
                </a:solidFill>
              </a:defRPr>
            </a:lvl6pPr>
            <a:lvl7pPr>
              <a:buNone/>
              <a:defRPr sz="1650" b="1">
                <a:solidFill>
                  <a:srgbClr val="167D9A"/>
                </a:solidFill>
              </a:defRPr>
            </a:lvl7pPr>
            <a:lvl8pPr>
              <a:buNone/>
              <a:defRPr sz="1650" b="1">
                <a:solidFill>
                  <a:srgbClr val="167D9A"/>
                </a:solidFill>
              </a:defRPr>
            </a:lvl8pPr>
            <a:lvl9pPr>
              <a:buNone/>
              <a:defRPr sz="1650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67D9A"/>
                </a:solidFill>
              </a:defRPr>
            </a:pPr>
            <a:r>
              <a:rPr sz="1650" b="1">
                <a:solidFill>
                  <a:srgbClr val="167D9A"/>
                </a:solidFill>
              </a:rPr>
              <a:t>1  Nearest neighbor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4F5C3-4D3C-4067-B922-0A2CA96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91452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8314F"/>
                </a:solidFill>
              </a:defRPr>
            </a:defPPr>
            <a:lvl1pPr>
              <a:buNone/>
              <a:defRPr sz="1425" b="0">
                <a:solidFill>
                  <a:srgbClr val="18314F"/>
                </a:solidFill>
              </a:defRPr>
            </a:lvl1pPr>
            <a:lvl2pPr>
              <a:buNone/>
              <a:defRPr sz="1425" b="0">
                <a:solidFill>
                  <a:srgbClr val="18314F"/>
                </a:solidFill>
              </a:defRPr>
            </a:lvl2pPr>
            <a:lvl3pPr>
              <a:buNone/>
              <a:defRPr sz="1425" b="0">
                <a:solidFill>
                  <a:srgbClr val="18314F"/>
                </a:solidFill>
              </a:defRPr>
            </a:lvl3pPr>
            <a:lvl4pPr>
              <a:buNone/>
              <a:defRPr sz="1425" b="0">
                <a:solidFill>
                  <a:srgbClr val="18314F"/>
                </a:solidFill>
              </a:defRPr>
            </a:lvl4pPr>
            <a:lvl5pPr>
              <a:buNone/>
              <a:defRPr sz="1425" b="0">
                <a:solidFill>
                  <a:srgbClr val="18314F"/>
                </a:solidFill>
              </a:defRPr>
            </a:lvl5pPr>
            <a:lvl6pPr>
              <a:buNone/>
              <a:defRPr sz="1425" b="0">
                <a:solidFill>
                  <a:srgbClr val="18314F"/>
                </a:solidFill>
              </a:defRPr>
            </a:lvl6pPr>
            <a:lvl7pPr>
              <a:buNone/>
              <a:defRPr sz="1425" b="0">
                <a:solidFill>
                  <a:srgbClr val="18314F"/>
                </a:solidFill>
              </a:defRPr>
            </a:lvl7pPr>
            <a:lvl8pPr>
              <a:buNone/>
              <a:defRPr sz="1425" b="0">
                <a:solidFill>
                  <a:srgbClr val="18314F"/>
                </a:solidFill>
              </a:defRPr>
            </a:lvl8pPr>
            <a:lvl9pPr>
              <a:buNone/>
              <a:defRPr sz="1425" b="0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8314F"/>
                </a:solidFill>
              </a:defRPr>
            </a:pPr>
            <a:r>
              <a:rPr sz="1425" b="0">
                <a:solidFill>
                  <a:srgbClr val="18314F"/>
                </a:solidFill>
              </a:rPr>
              <a:t>Visit the closest unvisited stop, then repeat and return to Depot.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7CA46-BAC3-4DD5-B0F5-2D3A83A1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0" y="14763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7D9A"/>
                </a:solidFill>
              </a:defRPr>
            </a:defPPr>
            <a:lvl1pPr>
              <a:buNone/>
              <a:defRPr sz="1650" b="1">
                <a:solidFill>
                  <a:srgbClr val="167D9A"/>
                </a:solidFill>
              </a:defRPr>
            </a:lvl1pPr>
            <a:lvl2pPr>
              <a:buNone/>
              <a:defRPr sz="1650" b="1">
                <a:solidFill>
                  <a:srgbClr val="167D9A"/>
                </a:solidFill>
              </a:defRPr>
            </a:lvl2pPr>
            <a:lvl3pPr>
              <a:buNone/>
              <a:defRPr sz="1650" b="1">
                <a:solidFill>
                  <a:srgbClr val="167D9A"/>
                </a:solidFill>
              </a:defRPr>
            </a:lvl3pPr>
            <a:lvl4pPr>
              <a:buNone/>
              <a:defRPr sz="1650" b="1">
                <a:solidFill>
                  <a:srgbClr val="167D9A"/>
                </a:solidFill>
              </a:defRPr>
            </a:lvl4pPr>
            <a:lvl5pPr>
              <a:buNone/>
              <a:defRPr sz="1650" b="1">
                <a:solidFill>
                  <a:srgbClr val="167D9A"/>
                </a:solidFill>
              </a:defRPr>
            </a:lvl5pPr>
            <a:lvl6pPr>
              <a:buNone/>
              <a:defRPr sz="1650" b="1">
                <a:solidFill>
                  <a:srgbClr val="167D9A"/>
                </a:solidFill>
              </a:defRPr>
            </a:lvl6pPr>
            <a:lvl7pPr>
              <a:buNone/>
              <a:defRPr sz="1650" b="1">
                <a:solidFill>
                  <a:srgbClr val="167D9A"/>
                </a:solidFill>
              </a:defRPr>
            </a:lvl7pPr>
            <a:lvl8pPr>
              <a:buNone/>
              <a:defRPr sz="1650" b="1">
                <a:solidFill>
                  <a:srgbClr val="167D9A"/>
                </a:solidFill>
              </a:defRPr>
            </a:lvl8pPr>
            <a:lvl9pPr>
              <a:buNone/>
              <a:defRPr sz="1650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67D9A"/>
                </a:solidFill>
              </a:defRPr>
            </a:pPr>
            <a:r>
              <a:rPr sz="1650" b="1">
                <a:solidFill>
                  <a:srgbClr val="167D9A"/>
                </a:solidFill>
              </a:rPr>
              <a:t>2  2-opt local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704A6-4D57-4DC1-AE6A-D13EA4E0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0" y="191452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8314F"/>
                </a:solidFill>
              </a:defRPr>
            </a:defPPr>
            <a:lvl1pPr>
              <a:buNone/>
              <a:defRPr sz="1425" b="0">
                <a:solidFill>
                  <a:srgbClr val="18314F"/>
                </a:solidFill>
              </a:defRPr>
            </a:lvl1pPr>
            <a:lvl2pPr>
              <a:buNone/>
              <a:defRPr sz="1425" b="0">
                <a:solidFill>
                  <a:srgbClr val="18314F"/>
                </a:solidFill>
              </a:defRPr>
            </a:lvl2pPr>
            <a:lvl3pPr>
              <a:buNone/>
              <a:defRPr sz="1425" b="0">
                <a:solidFill>
                  <a:srgbClr val="18314F"/>
                </a:solidFill>
              </a:defRPr>
            </a:lvl3pPr>
            <a:lvl4pPr>
              <a:buNone/>
              <a:defRPr sz="1425" b="0">
                <a:solidFill>
                  <a:srgbClr val="18314F"/>
                </a:solidFill>
              </a:defRPr>
            </a:lvl4pPr>
            <a:lvl5pPr>
              <a:buNone/>
              <a:defRPr sz="1425" b="0">
                <a:solidFill>
                  <a:srgbClr val="18314F"/>
                </a:solidFill>
              </a:defRPr>
            </a:lvl5pPr>
            <a:lvl6pPr>
              <a:buNone/>
              <a:defRPr sz="1425" b="0">
                <a:solidFill>
                  <a:srgbClr val="18314F"/>
                </a:solidFill>
              </a:defRPr>
            </a:lvl6pPr>
            <a:lvl7pPr>
              <a:buNone/>
              <a:defRPr sz="1425" b="0">
                <a:solidFill>
                  <a:srgbClr val="18314F"/>
                </a:solidFill>
              </a:defRPr>
            </a:lvl7pPr>
            <a:lvl8pPr>
              <a:buNone/>
              <a:defRPr sz="1425" b="0">
                <a:solidFill>
                  <a:srgbClr val="18314F"/>
                </a:solidFill>
              </a:defRPr>
            </a:lvl8pPr>
            <a:lvl9pPr>
              <a:buNone/>
              <a:defRPr sz="1425" b="0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8314F"/>
                </a:solidFill>
              </a:defRPr>
            </a:pPr>
            <a:r>
              <a:rPr sz="1425" b="0">
                <a:solidFill>
                  <a:srgbClr val="18314F"/>
                </a:solidFill>
              </a:rPr>
              <a:t>Try reversing tour segments. Keep reversals that shorten the closed route; stop when none improves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DAA3A-87F2-47E2-BEE6-3193F3EC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35242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DFEAC-4175-4BE6-B8F6-6D3F776E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3857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14F"/>
                </a:solidFill>
              </a:defRPr>
            </a:defPPr>
            <a:lvl1pPr>
              <a:buNone/>
              <a:defRPr sz="1500" b="1">
                <a:solidFill>
                  <a:srgbClr val="18314F"/>
                </a:solidFill>
              </a:defRPr>
            </a:lvl1pPr>
            <a:lvl2pPr>
              <a:buNone/>
              <a:defRPr sz="1500" b="1">
                <a:solidFill>
                  <a:srgbClr val="18314F"/>
                </a:solidFill>
              </a:defRPr>
            </a:lvl2pPr>
            <a:lvl3pPr>
              <a:buNone/>
              <a:defRPr sz="1500" b="1">
                <a:solidFill>
                  <a:srgbClr val="18314F"/>
                </a:solidFill>
              </a:defRPr>
            </a:lvl3pPr>
            <a:lvl4pPr>
              <a:buNone/>
              <a:defRPr sz="1500" b="1">
                <a:solidFill>
                  <a:srgbClr val="18314F"/>
                </a:solidFill>
              </a:defRPr>
            </a:lvl4pPr>
            <a:lvl5pPr>
              <a:buNone/>
              <a:defRPr sz="1500" b="1">
                <a:solidFill>
                  <a:srgbClr val="18314F"/>
                </a:solidFill>
              </a:defRPr>
            </a:lvl5pPr>
            <a:lvl6pPr>
              <a:buNone/>
              <a:defRPr sz="1500" b="1">
                <a:solidFill>
                  <a:srgbClr val="18314F"/>
                </a:solidFill>
              </a:defRPr>
            </a:lvl6pPr>
            <a:lvl7pPr>
              <a:buNone/>
              <a:defRPr sz="1500" b="1">
                <a:solidFill>
                  <a:srgbClr val="18314F"/>
                </a:solidFill>
              </a:defRPr>
            </a:lvl7pPr>
            <a:lvl8pPr>
              <a:buNone/>
              <a:defRPr sz="1500" b="1">
                <a:solidFill>
                  <a:srgbClr val="18314F"/>
                </a:solidFill>
              </a:defRPr>
            </a:lvl8pPr>
            <a:lvl9pPr>
              <a:buNone/>
              <a:defRPr sz="150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8314F"/>
                </a:solidFill>
              </a:defRPr>
            </a:pPr>
            <a:r>
              <a:rPr sz="1500" b="1">
                <a:solidFill>
                  <a:srgbClr val="18314F"/>
                </a:solidFill>
              </a:rPr>
              <a:t>Why this method?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D7195-9961-4A3B-8FE3-E9CC48FF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430530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070"/>
                </a:solidFill>
              </a:defRPr>
            </a:defPPr>
            <a:lvl1pPr>
              <a:buNone/>
              <a:defRPr sz="1650" b="0">
                <a:solidFill>
                  <a:srgbClr val="506070"/>
                </a:solidFill>
              </a:defRPr>
            </a:lvl1pPr>
            <a:lvl2pPr>
              <a:buNone/>
              <a:defRPr sz="1650" b="0">
                <a:solidFill>
                  <a:srgbClr val="506070"/>
                </a:solidFill>
              </a:defRPr>
            </a:lvl2pPr>
            <a:lvl3pPr>
              <a:buNone/>
              <a:defRPr sz="1650" b="0">
                <a:solidFill>
                  <a:srgbClr val="506070"/>
                </a:solidFill>
              </a:defRPr>
            </a:lvl3pPr>
            <a:lvl4pPr>
              <a:buNone/>
              <a:defRPr sz="1650" b="0">
                <a:solidFill>
                  <a:srgbClr val="506070"/>
                </a:solidFill>
              </a:defRPr>
            </a:lvl4pPr>
            <a:lvl5pPr>
              <a:buNone/>
              <a:defRPr sz="1650" b="0">
                <a:solidFill>
                  <a:srgbClr val="506070"/>
                </a:solidFill>
              </a:defRPr>
            </a:lvl5pPr>
            <a:lvl6pPr>
              <a:buNone/>
              <a:defRPr sz="1650" b="0">
                <a:solidFill>
                  <a:srgbClr val="506070"/>
                </a:solidFill>
              </a:defRPr>
            </a:lvl6pPr>
            <a:lvl7pPr>
              <a:buNone/>
              <a:defRPr sz="1650" b="0">
                <a:solidFill>
                  <a:srgbClr val="506070"/>
                </a:solidFill>
              </a:defRPr>
            </a:lvl7pPr>
            <a:lvl8pPr>
              <a:buNone/>
              <a:defRPr sz="1650" b="0">
                <a:solidFill>
                  <a:srgbClr val="506070"/>
                </a:solidFill>
              </a:defRPr>
            </a:lvl8pPr>
            <a:lvl9pPr>
              <a:buNone/>
              <a:defRPr sz="165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06070"/>
                </a:solidFill>
              </a:defRPr>
            </a:pPr>
            <a:r>
              <a:rPr sz="1650" b="0">
                <a:solidFill>
                  <a:srgbClr val="506070"/>
                </a:solidFill>
              </a:rPr>
              <a:t>Fast and explainable for a small example. It finds a feasible tour but does not prove global optimality.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54F7C-F51D-45AF-A186-F386107A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5514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D9A"/>
                </a:solidFill>
              </a:defRPr>
            </a:defPPr>
            <a:lvl1pPr>
              <a:buNone/>
              <a:defRPr sz="1350" b="1">
                <a:solidFill>
                  <a:srgbClr val="167D9A"/>
                </a:solidFill>
              </a:defRPr>
            </a:lvl1pPr>
            <a:lvl2pPr>
              <a:buNone/>
              <a:defRPr sz="1350" b="1">
                <a:solidFill>
                  <a:srgbClr val="167D9A"/>
                </a:solidFill>
              </a:defRPr>
            </a:lvl2pPr>
            <a:lvl3pPr>
              <a:buNone/>
              <a:defRPr sz="1350" b="1">
                <a:solidFill>
                  <a:srgbClr val="167D9A"/>
                </a:solidFill>
              </a:defRPr>
            </a:lvl3pPr>
            <a:lvl4pPr>
              <a:buNone/>
              <a:defRPr sz="1350" b="1">
                <a:solidFill>
                  <a:srgbClr val="167D9A"/>
                </a:solidFill>
              </a:defRPr>
            </a:lvl4pPr>
            <a:lvl5pPr>
              <a:buNone/>
              <a:defRPr sz="1350" b="1">
                <a:solidFill>
                  <a:srgbClr val="167D9A"/>
                </a:solidFill>
              </a:defRPr>
            </a:lvl5pPr>
            <a:lvl6pPr>
              <a:buNone/>
              <a:defRPr sz="1350" b="1">
                <a:solidFill>
                  <a:srgbClr val="167D9A"/>
                </a:solidFill>
              </a:defRPr>
            </a:lvl6pPr>
            <a:lvl7pPr>
              <a:buNone/>
              <a:defRPr sz="1350" b="1">
                <a:solidFill>
                  <a:srgbClr val="167D9A"/>
                </a:solidFill>
              </a:defRPr>
            </a:lvl7pPr>
            <a:lvl8pPr>
              <a:buNone/>
              <a:defRPr sz="1350" b="1">
                <a:solidFill>
                  <a:srgbClr val="167D9A"/>
                </a:solidFill>
              </a:defRPr>
            </a:lvl8pPr>
            <a:lvl9pPr>
              <a:buNone/>
              <a:defRPr sz="1350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67D9A"/>
                </a:solidFill>
              </a:defRPr>
            </a:pPr>
            <a:r>
              <a:rPr sz="1350" b="1">
                <a:solidFill>
                  <a:srgbClr val="167D9A"/>
                </a:solidFill>
              </a:rPr>
              <a:t>Graph concepts: weighted undirected graph • connectivity • shortest paths • closed cycle</a:t>
            </a:r>
          </a:p>
        </p:txBody>
      </p:sp>
    </p:spTree>
    <p:extLst>
      <p:ext uri="{BB962C8B-B14F-4D97-AF65-F5344CB8AC3E}">
        <p14:creationId xmlns:p14="http://schemas.microsoft.com/office/powerpoint/2010/main" val="883483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al-side-rule">
            <a:extLst xmlns:a="http://schemas.openxmlformats.org/drawingml/2006/main">
              <a:ext uri="{FF2B5EF4-FFF2-40B4-BE49-F238E27FC236}">
                <a16:creationId xmlns:a16="http://schemas.microsoft.com/office/drawing/2014/main" id="{80E494F8-0BF1-47AA-AB1A-73A7A09F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EAA4DC-5BF8-4788-9AE0-88972A1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Optimization pipeline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4558EEB-B771-4096-96B0-5622F5B0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7732F70-AF6F-48BC-A926-C25D391E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060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pipeline-intro">
            <a:extLst xmlns:a="http://schemas.openxmlformats.org/drawingml/2006/main">
              <a:ext uri="{FF2B5EF4-FFF2-40B4-BE49-F238E27FC236}">
                <a16:creationId xmlns:a16="http://schemas.microsoft.com/office/drawing/2014/main" id="{C6309772-2A64-495E-8D2D-CD2D7A67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The optimizer separates road routing from the order of campus stops.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ADC9D822-48CC-45AE-A6D9-82B5A695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5BCBC944-82BD-48BE-8E53-379517D7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Build shortest-road costs</a:t>
            </a:r>
          </a:p>
        </p:txBody>
      </p:sp>
      <p:sp>
        <p:nvSpPr>
          <p:cNvPr id="8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3F9096C6-9983-47AB-8420-302175E3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526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Run Dijkstra from each location and store pairwise distances with the road paths that produce them.</a:t>
            </a:r>
          </a:p>
        </p:txBody>
      </p:sp>
      <p:sp>
        <p:nvSpPr>
          <p:cNvPr id="9" name="step-divider-1">
            <a:extLst xmlns:a="http://schemas.openxmlformats.org/drawingml/2006/main">
              <a:ext uri="{FF2B5EF4-FFF2-40B4-BE49-F238E27FC236}">
                <a16:creationId xmlns:a16="http://schemas.microsoft.com/office/drawing/2014/main" id="{889A18AD-552A-4BC3-B02E-5FB40FB3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6E21E75-B40E-4F49-B05A-8D738944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043E4FF9-7501-4296-A02A-7412D191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670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Construct the first tour</a:t>
            </a:r>
          </a:p>
        </p:txBody>
      </p:sp>
      <p:sp>
        <p:nvSpPr>
          <p:cNvPr id="12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8D13E770-65A4-4D93-94DA-C23C92B6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670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Start at Depot and repeatedly add the closest unvisited stop using those shortest-path costs.</a:t>
            </a:r>
          </a:p>
        </p:txBody>
      </p:sp>
      <p:sp>
        <p:nvSpPr>
          <p:cNvPr id="13" name="step-divider-2">
            <a:extLst xmlns:a="http://schemas.openxmlformats.org/drawingml/2006/main">
              <a:ext uri="{FF2B5EF4-FFF2-40B4-BE49-F238E27FC236}">
                <a16:creationId xmlns:a16="http://schemas.microsoft.com/office/drawing/2014/main" id="{5B0739B8-5A0B-4B3F-A207-3DB6F068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67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E409AADF-30DA-4188-A02D-E31067FB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6AB8540A-F6EC-4F17-AC47-BA5DFC26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814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Improve by 2-opt</a:t>
            </a:r>
          </a:p>
        </p:txBody>
      </p:sp>
      <p:sp>
        <p:nvSpPr>
          <p:cNvPr id="16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93D6FFC7-60B9-428A-B787-DE85CBDF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814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Try reversing tour segments. Keep a reversal only when it shortens the closed route.</a:t>
            </a:r>
          </a:p>
        </p:txBody>
      </p:sp>
      <p:sp>
        <p:nvSpPr>
          <p:cNvPr id="17" name="step-divider-3">
            <a:extLst xmlns:a="http://schemas.openxmlformats.org/drawingml/2006/main">
              <a:ext uri="{FF2B5EF4-FFF2-40B4-BE49-F238E27FC236}">
                <a16:creationId xmlns:a16="http://schemas.microsoft.com/office/drawing/2014/main" id="{E626AB54-F48E-43BD-9FFA-23BAAB72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5EDB038D-DDBB-4C5B-B4A4-9437BC2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796AF65A-324B-4C90-A782-A77C6A4B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958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Expand for the map</a:t>
            </a:r>
          </a:p>
        </p:txBody>
      </p:sp>
      <p:sp>
        <p:nvSpPr>
          <p:cNvPr id="20" name="step-detail-4">
            <a:extLst xmlns:a="http://schemas.openxmlformats.org/drawingml/2006/main">
              <a:ext uri="{FF2B5EF4-FFF2-40B4-BE49-F238E27FC236}">
                <a16:creationId xmlns:a16="http://schemas.microsoft.com/office/drawing/2014/main" id="{81D67B0B-AD85-472C-A0B5-0E4DB892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958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Replace each stop-to-stop leg with its stored road path so the frontend can highlight road edges.</a:t>
            </a:r>
          </a:p>
        </p:txBody>
      </p:sp>
      <p:sp>
        <p:nvSpPr>
          <p:cNvPr id="21" name="algorithm-limit">
            <a:extLst xmlns:a="http://schemas.openxmlformats.org/drawingml/2006/main">
              <a:ext uri="{FF2B5EF4-FFF2-40B4-BE49-F238E27FC236}">
                <a16:creationId xmlns:a16="http://schemas.microsoft.com/office/drawing/2014/main" id="{8CEA41C1-9A96-4E9D-A877-D45C621B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Dijkstra is exact for nonnegative road distances. Nearest neighbor and 2-opt are heuristics, so they do not prove the shortest possible full tour.</a:t>
            </a:r>
          </a:p>
        </p:txBody>
      </p:sp>
    </p:spTree>
    <p:extLst>
      <p:ext uri="{BB962C8B-B14F-4D97-AF65-F5344CB8AC3E}">
        <p14:creationId xmlns:p14="http://schemas.microsoft.com/office/powerpoint/2010/main" val="1376142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al-side-rule">
            <a:extLst xmlns:a="http://schemas.openxmlformats.org/drawingml/2006/main">
              <a:ext uri="{FF2B5EF4-FFF2-40B4-BE49-F238E27FC236}">
                <a16:creationId xmlns:a16="http://schemas.microsoft.com/office/drawing/2014/main" id="{6AF10D8F-FC02-4306-96A0-98F0AA2C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C8927-E245-42B4-A020-D11DA42A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Python and the interactive graph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12A9B23-2ECD-4787-9A58-98420658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7E43080-94B7-4EEE-9EAC-3D90ABB4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060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integration-intro">
            <a:extLst xmlns:a="http://schemas.openxmlformats.org/drawingml/2006/main">
              <a:ext uri="{FF2B5EF4-FFF2-40B4-BE49-F238E27FC236}">
                <a16:creationId xmlns:a16="http://schemas.microsoft.com/office/drawing/2014/main" id="{46B9D6D4-8C18-4F1A-8621-287D458A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The browser displays the network while Python supplies road data and computes each route.</a:t>
            </a:r>
          </a:p>
        </p:txBody>
      </p:sp>
      <p:sp>
        <p:nvSpPr>
          <p:cNvPr id="6" name="browser-label">
            <a:extLst xmlns:a="http://schemas.openxmlformats.org/drawingml/2006/main">
              <a:ext uri="{FF2B5EF4-FFF2-40B4-BE49-F238E27FC236}">
                <a16:creationId xmlns:a16="http://schemas.microsoft.com/office/drawing/2014/main" id="{108CC450-BCD9-4BAB-B483-F6C2E9D9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7" name="browser-detail">
            <a:extLst xmlns:a="http://schemas.openxmlformats.org/drawingml/2006/main">
              <a:ext uri="{FF2B5EF4-FFF2-40B4-BE49-F238E27FC236}">
                <a16:creationId xmlns:a16="http://schemas.microsoft.com/office/drawing/2014/main" id="{D82476DC-541E-45D9-B638-04C09D2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14F"/>
                </a:solidFill>
                <a:latin typeface="Aptos"/>
                <a:ea typeface="Aptos"/>
                <a:cs typeface="Aptos"/>
              </a:rPr>
              <a:t>graph.html and graph.css provide the controls and page style. graph.js requests JSON data, then highlights returned route segments on the SVG map.</a:t>
            </a:r>
          </a:p>
        </p:txBody>
      </p:sp>
      <p:sp>
        <p:nvSpPr>
          <p:cNvPr id="8" name="python-label">
            <a:extLst xmlns:a="http://schemas.openxmlformats.org/drawingml/2006/main">
              <a:ext uri="{FF2B5EF4-FFF2-40B4-BE49-F238E27FC236}">
                <a16:creationId xmlns:a16="http://schemas.microsoft.com/office/drawing/2014/main" id="{589685A2-5A20-4F4E-ADE3-D9F530B8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812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9" name="python-detail">
            <a:extLst xmlns:a="http://schemas.openxmlformats.org/drawingml/2006/main">
              <a:ext uri="{FF2B5EF4-FFF2-40B4-BE49-F238E27FC236}">
                <a16:creationId xmlns:a16="http://schemas.microsoft.com/office/drawing/2014/main" id="{B52272F1-C61D-4166-A326-08181A18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14F"/>
                </a:solidFill>
                <a:latin typeface="Aptos"/>
                <a:ea typeface="Aptos"/>
                <a:cs typeface="Aptos"/>
              </a:rPr>
              <a:t>transportation_server.py serves the page and API. transportation_optimizer.py builds the graph and runs Dijkstra, nearest neighbor and 2-opt.</a:t>
            </a:r>
          </a:p>
        </p:txBody>
      </p:sp>
      <p:sp>
        <p:nvSpPr>
          <p:cNvPr id="10" name="run-divider">
            <a:extLst xmlns:a="http://schemas.openxmlformats.org/drawingml/2006/main">
              <a:ext uri="{FF2B5EF4-FFF2-40B4-BE49-F238E27FC236}">
                <a16:creationId xmlns:a16="http://schemas.microsoft.com/office/drawing/2014/main" id="{C6721901-A553-4DFB-858E-23E5F7AD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n-heading">
            <a:extLst xmlns:a="http://schemas.openxmlformats.org/drawingml/2006/main">
              <a:ext uri="{FF2B5EF4-FFF2-40B4-BE49-F238E27FC236}">
                <a16:creationId xmlns:a16="http://schemas.microsoft.com/office/drawing/2014/main" id="{8A33B5AA-FB1E-441C-8EAC-646272FC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31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14F"/>
                </a:solidFill>
                <a:latin typeface="Aptos"/>
                <a:ea typeface="Aptos"/>
                <a:cs typeface="Aptos"/>
              </a:rPr>
              <a:t>Run the browser demo</a:t>
            </a:r>
          </a:p>
        </p:txBody>
      </p:sp>
      <p:sp>
        <p:nvSpPr>
          <p:cNvPr id="12" name="run-steps">
            <a:extLst xmlns:a="http://schemas.openxmlformats.org/drawingml/2006/main">
              <a:ext uri="{FF2B5EF4-FFF2-40B4-BE49-F238E27FC236}">
                <a16:creationId xmlns:a16="http://schemas.microsoft.com/office/drawing/2014/main" id="{AD8EEE43-F15B-4402-8C27-59C454E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VS Code terminal:  python transportation_server.py</a:t>
            </a:r>
          </a:p>
          <a:p xmlns:a="http://schemas.openxmlformats.org/drawingml/2006/main">
            <a:pPr algn="l">
              <a:defRPr sz="1425" b="1">
                <a:solidFill>
                  <a:srgbClr val="167D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7D9A"/>
                </a:solidFill>
                <a:latin typeface="Aptos"/>
                <a:ea typeface="Aptos"/>
                <a:cs typeface="Aptos"/>
              </a:rPr>
              <a:t>Browser:  http://127.0.0.1:8000/graph.html</a:t>
            </a:r>
          </a:p>
        </p:txBody>
      </p:sp>
      <p:sp>
        <p:nvSpPr>
          <p:cNvPr id="13" name="run-result">
            <a:extLst xmlns:a="http://schemas.openxmlformats.org/drawingml/2006/main">
              <a:ext uri="{FF2B5EF4-FFF2-40B4-BE49-F238E27FC236}">
                <a16:creationId xmlns:a16="http://schemas.microsoft.com/office/drawing/2014/main" id="{A1209103-81A4-4718-BD32-9141A0CB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60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070"/>
                </a:solidFill>
                <a:latin typeface="Aptos"/>
                <a:ea typeface="Aptos"/>
                <a:cs typeface="Aptos"/>
              </a:rPr>
              <a:t>Choose Show shortest path or Optimize delivery tour. Python returns the result, and JavaScript draws it on the graph.</a:t>
            </a:r>
          </a:p>
        </p:txBody>
      </p:sp>
    </p:spTree>
    <p:extLst>
      <p:ext uri="{BB962C8B-B14F-4D97-AF65-F5344CB8AC3E}">
        <p14:creationId xmlns:p14="http://schemas.microsoft.com/office/powerpoint/2010/main" val="1140020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E5B8D-69D4-4AED-A73B-9CD26F6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7C6C2-A070-4F5C-A01D-6BF5E216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438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8314F"/>
                </a:solidFill>
              </a:defRPr>
            </a:defPPr>
            <a:lvl1pPr>
              <a:buNone/>
              <a:defRPr sz="2700" b="1">
                <a:solidFill>
                  <a:srgbClr val="18314F"/>
                </a:solidFill>
              </a:defRPr>
            </a:lvl1pPr>
            <a:lvl2pPr>
              <a:buNone/>
              <a:defRPr sz="2700" b="1">
                <a:solidFill>
                  <a:srgbClr val="18314F"/>
                </a:solidFill>
              </a:defRPr>
            </a:lvl2pPr>
            <a:lvl3pPr>
              <a:buNone/>
              <a:defRPr sz="2700" b="1">
                <a:solidFill>
                  <a:srgbClr val="18314F"/>
                </a:solidFill>
              </a:defRPr>
            </a:lvl3pPr>
            <a:lvl4pPr>
              <a:buNone/>
              <a:defRPr sz="2700" b="1">
                <a:solidFill>
                  <a:srgbClr val="18314F"/>
                </a:solidFill>
              </a:defRPr>
            </a:lvl4pPr>
            <a:lvl5pPr>
              <a:buNone/>
              <a:defRPr sz="2700" b="1">
                <a:solidFill>
                  <a:srgbClr val="18314F"/>
                </a:solidFill>
              </a:defRPr>
            </a:lvl5pPr>
            <a:lvl6pPr>
              <a:buNone/>
              <a:defRPr sz="2700" b="1">
                <a:solidFill>
                  <a:srgbClr val="18314F"/>
                </a:solidFill>
              </a:defRPr>
            </a:lvl6pPr>
            <a:lvl7pPr>
              <a:buNone/>
              <a:defRPr sz="2700" b="1">
                <a:solidFill>
                  <a:srgbClr val="18314F"/>
                </a:solidFill>
              </a:defRPr>
            </a:lvl7pPr>
            <a:lvl8pPr>
              <a:buNone/>
              <a:defRPr sz="2700" b="1">
                <a:solidFill>
                  <a:srgbClr val="18314F"/>
                </a:solidFill>
              </a:defRPr>
            </a:lvl8pPr>
            <a:lvl9pPr>
              <a:buNone/>
              <a:defRPr sz="270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8314F"/>
                </a:solidFill>
              </a:defRPr>
            </a:pPr>
            <a:r>
              <a:rPr sz="2700" b="1">
                <a:solidFill>
                  <a:srgbClr val="18314F"/>
                </a:solidFill>
              </a:rPr>
              <a:t>Results: local search helps a different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F7AD1-CB4C-4665-A062-2A0E670D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F3571-F3AA-4225-BD86-EF1BC07A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06070"/>
                </a:solidFill>
              </a:defRPr>
            </a:defPPr>
            <a:lvl1pPr>
              <a:buNone/>
              <a:defRPr sz="1050" b="1">
                <a:solidFill>
                  <a:srgbClr val="506070"/>
                </a:solidFill>
              </a:defRPr>
            </a:lvl1pPr>
            <a:lvl2pPr>
              <a:buNone/>
              <a:defRPr sz="1050" b="1">
                <a:solidFill>
                  <a:srgbClr val="506070"/>
                </a:solidFill>
              </a:defRPr>
            </a:lvl2pPr>
            <a:lvl3pPr>
              <a:buNone/>
              <a:defRPr sz="1050" b="1">
                <a:solidFill>
                  <a:srgbClr val="506070"/>
                </a:solidFill>
              </a:defRPr>
            </a:lvl3pPr>
            <a:lvl4pPr>
              <a:buNone/>
              <a:defRPr sz="1050" b="1">
                <a:solidFill>
                  <a:srgbClr val="506070"/>
                </a:solidFill>
              </a:defRPr>
            </a:lvl4pPr>
            <a:lvl5pPr>
              <a:buNone/>
              <a:defRPr sz="1050" b="1">
                <a:solidFill>
                  <a:srgbClr val="506070"/>
                </a:solidFill>
              </a:defRPr>
            </a:lvl5pPr>
            <a:lvl6pPr>
              <a:buNone/>
              <a:defRPr sz="1050" b="1">
                <a:solidFill>
                  <a:srgbClr val="506070"/>
                </a:solidFill>
              </a:defRPr>
            </a:lvl6pPr>
            <a:lvl7pPr>
              <a:buNone/>
              <a:defRPr sz="1050" b="1">
                <a:solidFill>
                  <a:srgbClr val="506070"/>
                </a:solidFill>
              </a:defRPr>
            </a:lvl7pPr>
            <a:lvl8pPr>
              <a:buNone/>
              <a:defRPr sz="1050" b="1">
                <a:solidFill>
                  <a:srgbClr val="506070"/>
                </a:solidFill>
              </a:defRPr>
            </a:lvl8pPr>
            <a:lvl9pPr>
              <a:buNone/>
              <a:defRPr sz="1050" b="1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06070"/>
                </a:solidFill>
              </a:defRPr>
            </a:pPr>
            <a:r>
              <a:rPr sz="1050" b="1">
                <a:solidFill>
                  <a:srgbClr val="506070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BCDB2-7155-4106-92E5-FC1D7E13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40970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314F"/>
                </a:solidFill>
              </a:defRPr>
            </a:defPPr>
            <a:lvl1pPr>
              <a:buNone/>
              <a:defRPr sz="1650" b="1">
                <a:solidFill>
                  <a:srgbClr val="18314F"/>
                </a:solidFill>
              </a:defRPr>
            </a:lvl1pPr>
            <a:lvl2pPr>
              <a:buNone/>
              <a:defRPr sz="1650" b="1">
                <a:solidFill>
                  <a:srgbClr val="18314F"/>
                </a:solidFill>
              </a:defRPr>
            </a:lvl2pPr>
            <a:lvl3pPr>
              <a:buNone/>
              <a:defRPr sz="1650" b="1">
                <a:solidFill>
                  <a:srgbClr val="18314F"/>
                </a:solidFill>
              </a:defRPr>
            </a:lvl3pPr>
            <a:lvl4pPr>
              <a:buNone/>
              <a:defRPr sz="1650" b="1">
                <a:solidFill>
                  <a:srgbClr val="18314F"/>
                </a:solidFill>
              </a:defRPr>
            </a:lvl4pPr>
            <a:lvl5pPr>
              <a:buNone/>
              <a:defRPr sz="1650" b="1">
                <a:solidFill>
                  <a:srgbClr val="18314F"/>
                </a:solidFill>
              </a:defRPr>
            </a:lvl5pPr>
            <a:lvl6pPr>
              <a:buNone/>
              <a:defRPr sz="1650" b="1">
                <a:solidFill>
                  <a:srgbClr val="18314F"/>
                </a:solidFill>
              </a:defRPr>
            </a:lvl6pPr>
            <a:lvl7pPr>
              <a:buNone/>
              <a:defRPr sz="1650" b="1">
                <a:solidFill>
                  <a:srgbClr val="18314F"/>
                </a:solidFill>
              </a:defRPr>
            </a:lvl7pPr>
            <a:lvl8pPr>
              <a:buNone/>
              <a:defRPr sz="1650" b="1">
                <a:solidFill>
                  <a:srgbClr val="18314F"/>
                </a:solidFill>
              </a:defRPr>
            </a:lvl8pPr>
            <a:lvl9pPr>
              <a:buNone/>
              <a:defRPr sz="165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8314F"/>
                </a:solidFill>
              </a:defRPr>
            </a:pPr>
            <a:r>
              <a:rPr sz="1650" b="1">
                <a:solidFill>
                  <a:srgbClr val="18314F"/>
                </a:solidFill>
              </a:rPr>
              <a:t>Closed tour distance (km)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9860F-9493-4DBC-8499-ACCA018A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06070"/>
                </a:solidFill>
              </a:defRPr>
            </a:defPPr>
            <a:lvl1pPr>
              <a:buNone/>
              <a:defRPr sz="1275" b="1">
                <a:solidFill>
                  <a:srgbClr val="506070"/>
                </a:solidFill>
              </a:defRPr>
            </a:lvl1pPr>
            <a:lvl2pPr>
              <a:buNone/>
              <a:defRPr sz="1275" b="1">
                <a:solidFill>
                  <a:srgbClr val="506070"/>
                </a:solidFill>
              </a:defRPr>
            </a:lvl2pPr>
            <a:lvl3pPr>
              <a:buNone/>
              <a:defRPr sz="1275" b="1">
                <a:solidFill>
                  <a:srgbClr val="506070"/>
                </a:solidFill>
              </a:defRPr>
            </a:lvl3pPr>
            <a:lvl4pPr>
              <a:buNone/>
              <a:defRPr sz="1275" b="1">
                <a:solidFill>
                  <a:srgbClr val="506070"/>
                </a:solidFill>
              </a:defRPr>
            </a:lvl4pPr>
            <a:lvl5pPr>
              <a:buNone/>
              <a:defRPr sz="1275" b="1">
                <a:solidFill>
                  <a:srgbClr val="506070"/>
                </a:solidFill>
              </a:defRPr>
            </a:lvl5pPr>
            <a:lvl6pPr>
              <a:buNone/>
              <a:defRPr sz="1275" b="1">
                <a:solidFill>
                  <a:srgbClr val="506070"/>
                </a:solidFill>
              </a:defRPr>
            </a:lvl6pPr>
            <a:lvl7pPr>
              <a:buNone/>
              <a:defRPr sz="1275" b="1">
                <a:solidFill>
                  <a:srgbClr val="506070"/>
                </a:solidFill>
              </a:defRPr>
            </a:lvl7pPr>
            <a:lvl8pPr>
              <a:buNone/>
              <a:defRPr sz="1275" b="1">
                <a:solidFill>
                  <a:srgbClr val="506070"/>
                </a:solidFill>
              </a:defRPr>
            </a:lvl8pPr>
            <a:lvl9pPr>
              <a:buNone/>
              <a:defRPr sz="1275" b="1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506070"/>
                </a:solidFill>
              </a:defRPr>
            </a:pPr>
            <a:r>
              <a:rPr sz="1275" b="1">
                <a:solidFill>
                  <a:srgbClr val="506070"/>
                </a:solidFill>
              </a:rPr>
              <a:t>Nearest neighbor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9BDCB-0002-4DE7-8984-D9414F26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38500" y="2095500"/>
            <a:ext cx="398621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DC26A-C2F7-4DBD-BA90-B1F199D3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19963" y="2085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06070"/>
                </a:solidFill>
              </a:defRPr>
            </a:defPPr>
            <a:lvl1pPr>
              <a:buNone/>
              <a:defRPr sz="1125" b="1">
                <a:solidFill>
                  <a:srgbClr val="506070"/>
                </a:solidFill>
              </a:defRPr>
            </a:lvl1pPr>
            <a:lvl2pPr>
              <a:buNone/>
              <a:defRPr sz="1125" b="1">
                <a:solidFill>
                  <a:srgbClr val="506070"/>
                </a:solidFill>
              </a:defRPr>
            </a:lvl2pPr>
            <a:lvl3pPr>
              <a:buNone/>
              <a:defRPr sz="1125" b="1">
                <a:solidFill>
                  <a:srgbClr val="506070"/>
                </a:solidFill>
              </a:defRPr>
            </a:lvl3pPr>
            <a:lvl4pPr>
              <a:buNone/>
              <a:defRPr sz="1125" b="1">
                <a:solidFill>
                  <a:srgbClr val="506070"/>
                </a:solidFill>
              </a:defRPr>
            </a:lvl4pPr>
            <a:lvl5pPr>
              <a:buNone/>
              <a:defRPr sz="1125" b="1">
                <a:solidFill>
                  <a:srgbClr val="506070"/>
                </a:solidFill>
              </a:defRPr>
            </a:lvl5pPr>
            <a:lvl6pPr>
              <a:buNone/>
              <a:defRPr sz="1125" b="1">
                <a:solidFill>
                  <a:srgbClr val="506070"/>
                </a:solidFill>
              </a:defRPr>
            </a:lvl6pPr>
            <a:lvl7pPr>
              <a:buNone/>
              <a:defRPr sz="1125" b="1">
                <a:solidFill>
                  <a:srgbClr val="506070"/>
                </a:solidFill>
              </a:defRPr>
            </a:lvl7pPr>
            <a:lvl8pPr>
              <a:buNone/>
              <a:defRPr sz="1125" b="1">
                <a:solidFill>
                  <a:srgbClr val="506070"/>
                </a:solidFill>
              </a:defRPr>
            </a:lvl8pPr>
            <a:lvl9pPr>
              <a:buNone/>
              <a:defRPr sz="1125" b="1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06070"/>
                </a:solidFill>
              </a:defRPr>
            </a:pPr>
            <a:r>
              <a:rPr sz="1125" b="1">
                <a:solidFill>
                  <a:srgbClr val="506070"/>
                </a:solidFill>
              </a:rPr>
              <a:t>9.30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64035-9C14-491A-9DF3-01F9BA2E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38500" y="2419350"/>
            <a:ext cx="398621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B36F8-0BB1-4BD6-AD85-5328A1F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19963" y="24098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D9A"/>
                </a:solidFill>
              </a:defRPr>
            </a:defPPr>
            <a:lvl1pPr>
              <a:buNone/>
              <a:defRPr sz="1125" b="1">
                <a:solidFill>
                  <a:srgbClr val="167D9A"/>
                </a:solidFill>
              </a:defRPr>
            </a:lvl1pPr>
            <a:lvl2pPr>
              <a:buNone/>
              <a:defRPr sz="1125" b="1">
                <a:solidFill>
                  <a:srgbClr val="167D9A"/>
                </a:solidFill>
              </a:defRPr>
            </a:lvl2pPr>
            <a:lvl3pPr>
              <a:buNone/>
              <a:defRPr sz="1125" b="1">
                <a:solidFill>
                  <a:srgbClr val="167D9A"/>
                </a:solidFill>
              </a:defRPr>
            </a:lvl3pPr>
            <a:lvl4pPr>
              <a:buNone/>
              <a:defRPr sz="1125" b="1">
                <a:solidFill>
                  <a:srgbClr val="167D9A"/>
                </a:solidFill>
              </a:defRPr>
            </a:lvl4pPr>
            <a:lvl5pPr>
              <a:buNone/>
              <a:defRPr sz="1125" b="1">
                <a:solidFill>
                  <a:srgbClr val="167D9A"/>
                </a:solidFill>
              </a:defRPr>
            </a:lvl5pPr>
            <a:lvl6pPr>
              <a:buNone/>
              <a:defRPr sz="1125" b="1">
                <a:solidFill>
                  <a:srgbClr val="167D9A"/>
                </a:solidFill>
              </a:defRPr>
            </a:lvl6pPr>
            <a:lvl7pPr>
              <a:buNone/>
              <a:defRPr sz="1125" b="1">
                <a:solidFill>
                  <a:srgbClr val="167D9A"/>
                </a:solidFill>
              </a:defRPr>
            </a:lvl7pPr>
            <a:lvl8pPr>
              <a:buNone/>
              <a:defRPr sz="1125" b="1">
                <a:solidFill>
                  <a:srgbClr val="167D9A"/>
                </a:solidFill>
              </a:defRPr>
            </a:lvl8pPr>
            <a:lvl9pPr>
              <a:buNone/>
              <a:defRPr sz="1125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67D9A"/>
                </a:solidFill>
              </a:defRPr>
            </a:pPr>
            <a:r>
              <a:rPr sz="1125" b="1">
                <a:solidFill>
                  <a:srgbClr val="167D9A"/>
                </a:solidFill>
              </a:rPr>
              <a:t>9.30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C4D21-EC04-4DB6-80AE-B703380A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06070"/>
                </a:solidFill>
              </a:defRPr>
            </a:defPPr>
            <a:lvl1pPr>
              <a:buNone/>
              <a:defRPr sz="1275" b="1">
                <a:solidFill>
                  <a:srgbClr val="506070"/>
                </a:solidFill>
              </a:defRPr>
            </a:lvl1pPr>
            <a:lvl2pPr>
              <a:buNone/>
              <a:defRPr sz="1275" b="1">
                <a:solidFill>
                  <a:srgbClr val="506070"/>
                </a:solidFill>
              </a:defRPr>
            </a:lvl2pPr>
            <a:lvl3pPr>
              <a:buNone/>
              <a:defRPr sz="1275" b="1">
                <a:solidFill>
                  <a:srgbClr val="506070"/>
                </a:solidFill>
              </a:defRPr>
            </a:lvl3pPr>
            <a:lvl4pPr>
              <a:buNone/>
              <a:defRPr sz="1275" b="1">
                <a:solidFill>
                  <a:srgbClr val="506070"/>
                </a:solidFill>
              </a:defRPr>
            </a:lvl4pPr>
            <a:lvl5pPr>
              <a:buNone/>
              <a:defRPr sz="1275" b="1">
                <a:solidFill>
                  <a:srgbClr val="506070"/>
                </a:solidFill>
              </a:defRPr>
            </a:lvl5pPr>
            <a:lvl6pPr>
              <a:buNone/>
              <a:defRPr sz="1275" b="1">
                <a:solidFill>
                  <a:srgbClr val="506070"/>
                </a:solidFill>
              </a:defRPr>
            </a:lvl6pPr>
            <a:lvl7pPr>
              <a:buNone/>
              <a:defRPr sz="1275" b="1">
                <a:solidFill>
                  <a:srgbClr val="506070"/>
                </a:solidFill>
              </a:defRPr>
            </a:lvl7pPr>
            <a:lvl8pPr>
              <a:buNone/>
              <a:defRPr sz="1275" b="1">
                <a:solidFill>
                  <a:srgbClr val="506070"/>
                </a:solidFill>
              </a:defRPr>
            </a:lvl8pPr>
            <a:lvl9pPr>
              <a:buNone/>
              <a:defRPr sz="1275" b="1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506070"/>
                </a:solidFill>
              </a:defRPr>
            </a:pPr>
            <a:r>
              <a:rPr sz="1275" b="1">
                <a:solidFill>
                  <a:srgbClr val="506070"/>
                </a:solidFill>
              </a:rPr>
              <a:t>Shuffled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9AB11-2AD3-4BAD-9B01-9BD10BCB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38500" y="3238500"/>
            <a:ext cx="480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AD91B-CD2E-4C1B-BE56-B4BD48CE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34350" y="3228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06070"/>
                </a:solidFill>
              </a:defRPr>
            </a:defPPr>
            <a:lvl1pPr>
              <a:buNone/>
              <a:defRPr sz="1125" b="1">
                <a:solidFill>
                  <a:srgbClr val="506070"/>
                </a:solidFill>
              </a:defRPr>
            </a:lvl1pPr>
            <a:lvl2pPr>
              <a:buNone/>
              <a:defRPr sz="1125" b="1">
                <a:solidFill>
                  <a:srgbClr val="506070"/>
                </a:solidFill>
              </a:defRPr>
            </a:lvl2pPr>
            <a:lvl3pPr>
              <a:buNone/>
              <a:defRPr sz="1125" b="1">
                <a:solidFill>
                  <a:srgbClr val="506070"/>
                </a:solidFill>
              </a:defRPr>
            </a:lvl3pPr>
            <a:lvl4pPr>
              <a:buNone/>
              <a:defRPr sz="1125" b="1">
                <a:solidFill>
                  <a:srgbClr val="506070"/>
                </a:solidFill>
              </a:defRPr>
            </a:lvl4pPr>
            <a:lvl5pPr>
              <a:buNone/>
              <a:defRPr sz="1125" b="1">
                <a:solidFill>
                  <a:srgbClr val="506070"/>
                </a:solidFill>
              </a:defRPr>
            </a:lvl5pPr>
            <a:lvl6pPr>
              <a:buNone/>
              <a:defRPr sz="1125" b="1">
                <a:solidFill>
                  <a:srgbClr val="506070"/>
                </a:solidFill>
              </a:defRPr>
            </a:lvl6pPr>
            <a:lvl7pPr>
              <a:buNone/>
              <a:defRPr sz="1125" b="1">
                <a:solidFill>
                  <a:srgbClr val="506070"/>
                </a:solidFill>
              </a:defRPr>
            </a:lvl7pPr>
            <a:lvl8pPr>
              <a:buNone/>
              <a:defRPr sz="1125" b="1">
                <a:solidFill>
                  <a:srgbClr val="506070"/>
                </a:solidFill>
              </a:defRPr>
            </a:lvl8pPr>
            <a:lvl9pPr>
              <a:buNone/>
              <a:defRPr sz="1125" b="1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06070"/>
                </a:solidFill>
              </a:defRPr>
            </a:pPr>
            <a:r>
              <a:rPr sz="1125" b="1">
                <a:solidFill>
                  <a:srgbClr val="506070"/>
                </a:solidFill>
              </a:rPr>
              <a:t>11.20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38080-C303-4B1F-A67C-317C3E3F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38500" y="3562350"/>
            <a:ext cx="40719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44D46-A71D-408C-8C5E-B2B6C4B8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05688" y="35528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D9A"/>
                </a:solidFill>
              </a:defRPr>
            </a:defPPr>
            <a:lvl1pPr>
              <a:buNone/>
              <a:defRPr sz="1125" b="1">
                <a:solidFill>
                  <a:srgbClr val="167D9A"/>
                </a:solidFill>
              </a:defRPr>
            </a:lvl1pPr>
            <a:lvl2pPr>
              <a:buNone/>
              <a:defRPr sz="1125" b="1">
                <a:solidFill>
                  <a:srgbClr val="167D9A"/>
                </a:solidFill>
              </a:defRPr>
            </a:lvl2pPr>
            <a:lvl3pPr>
              <a:buNone/>
              <a:defRPr sz="1125" b="1">
                <a:solidFill>
                  <a:srgbClr val="167D9A"/>
                </a:solidFill>
              </a:defRPr>
            </a:lvl3pPr>
            <a:lvl4pPr>
              <a:buNone/>
              <a:defRPr sz="1125" b="1">
                <a:solidFill>
                  <a:srgbClr val="167D9A"/>
                </a:solidFill>
              </a:defRPr>
            </a:lvl4pPr>
            <a:lvl5pPr>
              <a:buNone/>
              <a:defRPr sz="1125" b="1">
                <a:solidFill>
                  <a:srgbClr val="167D9A"/>
                </a:solidFill>
              </a:defRPr>
            </a:lvl5pPr>
            <a:lvl6pPr>
              <a:buNone/>
              <a:defRPr sz="1125" b="1">
                <a:solidFill>
                  <a:srgbClr val="167D9A"/>
                </a:solidFill>
              </a:defRPr>
            </a:lvl6pPr>
            <a:lvl7pPr>
              <a:buNone/>
              <a:defRPr sz="1125" b="1">
                <a:solidFill>
                  <a:srgbClr val="167D9A"/>
                </a:solidFill>
              </a:defRPr>
            </a:lvl7pPr>
            <a:lvl8pPr>
              <a:buNone/>
              <a:defRPr sz="1125" b="1">
                <a:solidFill>
                  <a:srgbClr val="167D9A"/>
                </a:solidFill>
              </a:defRPr>
            </a:lvl8pPr>
            <a:lvl9pPr>
              <a:buNone/>
              <a:defRPr sz="1125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67D9A"/>
                </a:solidFill>
              </a:defRPr>
            </a:pPr>
            <a:r>
              <a:rPr sz="1125" b="1">
                <a:solidFill>
                  <a:srgbClr val="167D9A"/>
                </a:solidFill>
              </a:rPr>
              <a:t>9.50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382C5-33AE-4B67-8CAE-92B6882A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4533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070"/>
                </a:solidFill>
              </a:defRPr>
            </a:defPPr>
            <a:lvl1pPr>
              <a:buNone/>
              <a:defRPr sz="1125" b="0">
                <a:solidFill>
                  <a:srgbClr val="506070"/>
                </a:solidFill>
              </a:defRPr>
            </a:lvl1pPr>
            <a:lvl2pPr>
              <a:buNone/>
              <a:defRPr sz="1125" b="0">
                <a:solidFill>
                  <a:srgbClr val="506070"/>
                </a:solidFill>
              </a:defRPr>
            </a:lvl2pPr>
            <a:lvl3pPr>
              <a:buNone/>
              <a:defRPr sz="1125" b="0">
                <a:solidFill>
                  <a:srgbClr val="506070"/>
                </a:solidFill>
              </a:defRPr>
            </a:lvl3pPr>
            <a:lvl4pPr>
              <a:buNone/>
              <a:defRPr sz="1125" b="0">
                <a:solidFill>
                  <a:srgbClr val="506070"/>
                </a:solidFill>
              </a:defRPr>
            </a:lvl4pPr>
            <a:lvl5pPr>
              <a:buNone/>
              <a:defRPr sz="1125" b="0">
                <a:solidFill>
                  <a:srgbClr val="506070"/>
                </a:solidFill>
              </a:defRPr>
            </a:lvl5pPr>
            <a:lvl6pPr>
              <a:buNone/>
              <a:defRPr sz="1125" b="0">
                <a:solidFill>
                  <a:srgbClr val="506070"/>
                </a:solidFill>
              </a:defRPr>
            </a:lvl6pPr>
            <a:lvl7pPr>
              <a:buNone/>
              <a:defRPr sz="1125" b="0">
                <a:solidFill>
                  <a:srgbClr val="506070"/>
                </a:solidFill>
              </a:defRPr>
            </a:lvl7pPr>
            <a:lvl8pPr>
              <a:buNone/>
              <a:defRPr sz="1125" b="0">
                <a:solidFill>
                  <a:srgbClr val="506070"/>
                </a:solidFill>
              </a:defRPr>
            </a:lvl8pPr>
            <a:lvl9pPr>
              <a:buNone/>
              <a:defRPr sz="1125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070"/>
                </a:solidFill>
              </a:defRPr>
            </a:pPr>
            <a:r>
              <a:rPr sz="1125" b="0">
                <a:solidFill>
                  <a:srgbClr val="506070"/>
                </a:solidFill>
              </a:rPr>
              <a:t>Gray: initial tour   Blue: after 2-opt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52696-1572-445E-8F92-0610C189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5200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7D9A"/>
                </a:solidFill>
              </a:defRPr>
            </a:defPPr>
            <a:lvl1pPr>
              <a:buNone/>
              <a:defRPr sz="1650" b="1">
                <a:solidFill>
                  <a:srgbClr val="167D9A"/>
                </a:solidFill>
              </a:defRPr>
            </a:lvl1pPr>
            <a:lvl2pPr>
              <a:buNone/>
              <a:defRPr sz="1650" b="1">
                <a:solidFill>
                  <a:srgbClr val="167D9A"/>
                </a:solidFill>
              </a:defRPr>
            </a:lvl2pPr>
            <a:lvl3pPr>
              <a:buNone/>
              <a:defRPr sz="1650" b="1">
                <a:solidFill>
                  <a:srgbClr val="167D9A"/>
                </a:solidFill>
              </a:defRPr>
            </a:lvl3pPr>
            <a:lvl4pPr>
              <a:buNone/>
              <a:defRPr sz="1650" b="1">
                <a:solidFill>
                  <a:srgbClr val="167D9A"/>
                </a:solidFill>
              </a:defRPr>
            </a:lvl4pPr>
            <a:lvl5pPr>
              <a:buNone/>
              <a:defRPr sz="1650" b="1">
                <a:solidFill>
                  <a:srgbClr val="167D9A"/>
                </a:solidFill>
              </a:defRPr>
            </a:lvl5pPr>
            <a:lvl6pPr>
              <a:buNone/>
              <a:defRPr sz="1650" b="1">
                <a:solidFill>
                  <a:srgbClr val="167D9A"/>
                </a:solidFill>
              </a:defRPr>
            </a:lvl6pPr>
            <a:lvl7pPr>
              <a:buNone/>
              <a:defRPr sz="1650" b="1">
                <a:solidFill>
                  <a:srgbClr val="167D9A"/>
                </a:solidFill>
              </a:defRPr>
            </a:lvl7pPr>
            <a:lvl8pPr>
              <a:buNone/>
              <a:defRPr sz="1650" b="1">
                <a:solidFill>
                  <a:srgbClr val="167D9A"/>
                </a:solidFill>
              </a:defRPr>
            </a:lvl8pPr>
            <a:lvl9pPr>
              <a:buNone/>
              <a:defRPr sz="1650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67D9A"/>
                </a:solidFill>
              </a:defRPr>
            </a:pPr>
            <a:r>
              <a:rPr sz="1650" b="1">
                <a:solidFill>
                  <a:srgbClr val="167D9A"/>
                </a:solidFill>
              </a:rPr>
              <a:t>Shuffled start improves by 1.70 km (15.2%)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D031E-04CC-4BD9-99E9-BEE98047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5743575"/>
            <a:ext cx="1019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070"/>
                </a:solidFill>
              </a:defRPr>
            </a:defPPr>
            <a:lvl1pPr>
              <a:buNone/>
              <a:defRPr sz="1200" b="0">
                <a:solidFill>
                  <a:srgbClr val="506070"/>
                </a:solidFill>
              </a:defRPr>
            </a:lvl1pPr>
            <a:lvl2pPr>
              <a:buNone/>
              <a:defRPr sz="1200" b="0">
                <a:solidFill>
                  <a:srgbClr val="506070"/>
                </a:solidFill>
              </a:defRPr>
            </a:lvl2pPr>
            <a:lvl3pPr>
              <a:buNone/>
              <a:defRPr sz="1200" b="0">
                <a:solidFill>
                  <a:srgbClr val="506070"/>
                </a:solidFill>
              </a:defRPr>
            </a:lvl3pPr>
            <a:lvl4pPr>
              <a:buNone/>
              <a:defRPr sz="1200" b="0">
                <a:solidFill>
                  <a:srgbClr val="506070"/>
                </a:solidFill>
              </a:defRPr>
            </a:lvl4pPr>
            <a:lvl5pPr>
              <a:buNone/>
              <a:defRPr sz="1200" b="0">
                <a:solidFill>
                  <a:srgbClr val="506070"/>
                </a:solidFill>
              </a:defRPr>
            </a:lvl5pPr>
            <a:lvl6pPr>
              <a:buNone/>
              <a:defRPr sz="1200" b="0">
                <a:solidFill>
                  <a:srgbClr val="506070"/>
                </a:solidFill>
              </a:defRPr>
            </a:lvl6pPr>
            <a:lvl7pPr>
              <a:buNone/>
              <a:defRPr sz="1200" b="0">
                <a:solidFill>
                  <a:srgbClr val="506070"/>
                </a:solidFill>
              </a:defRPr>
            </a:lvl7pPr>
            <a:lvl8pPr>
              <a:buNone/>
              <a:defRPr sz="1200" b="0">
                <a:solidFill>
                  <a:srgbClr val="506070"/>
                </a:solidFill>
              </a:defRPr>
            </a:lvl8pPr>
            <a:lvl9pPr>
              <a:buNone/>
              <a:defRPr sz="12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06070"/>
                </a:solidFill>
              </a:defRPr>
            </a:pPr>
            <a:r>
              <a:rPr sz="1200" b="0">
                <a:solidFill>
                  <a:srgbClr val="506070"/>
                </a:solidFill>
              </a:rPr>
              <a:t>Nearest neighbor: Depot → Library → Engineering → Admin → Cafeteria → Science → Hostel → Depot (9.30 km)</a:t>
            </a:r>
          </a:p>
        </p:txBody>
      </p:sp>
    </p:spTree>
    <p:extLst>
      <p:ext uri="{BB962C8B-B14F-4D97-AF65-F5344CB8AC3E}">
        <p14:creationId xmlns:p14="http://schemas.microsoft.com/office/powerpoint/2010/main" val="20164055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FD48A-E560-45BC-A14F-7EF775F5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613BB-5E21-4A7D-A5B9-CB6F2830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4381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8314F"/>
                </a:solidFill>
              </a:defRPr>
            </a:defPPr>
            <a:lvl1pPr>
              <a:buNone/>
              <a:defRPr sz="2700" b="1">
                <a:solidFill>
                  <a:srgbClr val="18314F"/>
                </a:solidFill>
              </a:defRPr>
            </a:lvl1pPr>
            <a:lvl2pPr>
              <a:buNone/>
              <a:defRPr sz="2700" b="1">
                <a:solidFill>
                  <a:srgbClr val="18314F"/>
                </a:solidFill>
              </a:defRPr>
            </a:lvl2pPr>
            <a:lvl3pPr>
              <a:buNone/>
              <a:defRPr sz="2700" b="1">
                <a:solidFill>
                  <a:srgbClr val="18314F"/>
                </a:solidFill>
              </a:defRPr>
            </a:lvl3pPr>
            <a:lvl4pPr>
              <a:buNone/>
              <a:defRPr sz="2700" b="1">
                <a:solidFill>
                  <a:srgbClr val="18314F"/>
                </a:solidFill>
              </a:defRPr>
            </a:lvl4pPr>
            <a:lvl5pPr>
              <a:buNone/>
              <a:defRPr sz="2700" b="1">
                <a:solidFill>
                  <a:srgbClr val="18314F"/>
                </a:solidFill>
              </a:defRPr>
            </a:lvl5pPr>
            <a:lvl6pPr>
              <a:buNone/>
              <a:defRPr sz="2700" b="1">
                <a:solidFill>
                  <a:srgbClr val="18314F"/>
                </a:solidFill>
              </a:defRPr>
            </a:lvl6pPr>
            <a:lvl7pPr>
              <a:buNone/>
              <a:defRPr sz="2700" b="1">
                <a:solidFill>
                  <a:srgbClr val="18314F"/>
                </a:solidFill>
              </a:defRPr>
            </a:lvl7pPr>
            <a:lvl8pPr>
              <a:buNone/>
              <a:defRPr sz="2700" b="1">
                <a:solidFill>
                  <a:srgbClr val="18314F"/>
                </a:solidFill>
              </a:defRPr>
            </a:lvl8pPr>
            <a:lvl9pPr>
              <a:buNone/>
              <a:defRPr sz="270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8314F"/>
                </a:solidFill>
              </a:defRPr>
            </a:pPr>
            <a:r>
              <a:rPr sz="2700" b="1">
                <a:solidFill>
                  <a:srgbClr val="18314F"/>
                </a:solidFill>
              </a:rPr>
              <a:t>Conclusion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97614-0CE3-4443-955B-09068E0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B054D-0495-41FA-A055-AD344B5E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06070"/>
                </a:solidFill>
              </a:defRPr>
            </a:defPPr>
            <a:lvl1pPr>
              <a:buNone/>
              <a:defRPr sz="1050" b="1">
                <a:solidFill>
                  <a:srgbClr val="506070"/>
                </a:solidFill>
              </a:defRPr>
            </a:lvl1pPr>
            <a:lvl2pPr>
              <a:buNone/>
              <a:defRPr sz="1050" b="1">
                <a:solidFill>
                  <a:srgbClr val="506070"/>
                </a:solidFill>
              </a:defRPr>
            </a:lvl2pPr>
            <a:lvl3pPr>
              <a:buNone/>
              <a:defRPr sz="1050" b="1">
                <a:solidFill>
                  <a:srgbClr val="506070"/>
                </a:solidFill>
              </a:defRPr>
            </a:lvl3pPr>
            <a:lvl4pPr>
              <a:buNone/>
              <a:defRPr sz="1050" b="1">
                <a:solidFill>
                  <a:srgbClr val="506070"/>
                </a:solidFill>
              </a:defRPr>
            </a:lvl4pPr>
            <a:lvl5pPr>
              <a:buNone/>
              <a:defRPr sz="1050" b="1">
                <a:solidFill>
                  <a:srgbClr val="506070"/>
                </a:solidFill>
              </a:defRPr>
            </a:lvl5pPr>
            <a:lvl6pPr>
              <a:buNone/>
              <a:defRPr sz="1050" b="1">
                <a:solidFill>
                  <a:srgbClr val="506070"/>
                </a:solidFill>
              </a:defRPr>
            </a:lvl6pPr>
            <a:lvl7pPr>
              <a:buNone/>
              <a:defRPr sz="1050" b="1">
                <a:solidFill>
                  <a:srgbClr val="506070"/>
                </a:solidFill>
              </a:defRPr>
            </a:lvl7pPr>
            <a:lvl8pPr>
              <a:buNone/>
              <a:defRPr sz="1050" b="1">
                <a:solidFill>
                  <a:srgbClr val="506070"/>
                </a:solidFill>
              </a:defRPr>
            </a:lvl8pPr>
            <a:lvl9pPr>
              <a:buNone/>
              <a:defRPr sz="1050" b="1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06070"/>
                </a:solidFill>
              </a:defRPr>
            </a:pPr>
            <a:r>
              <a:rPr sz="1050" b="1">
                <a:solidFill>
                  <a:srgbClr val="506070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6AD00-ECCD-4B1F-8E36-AFC30C80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4573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7D9A"/>
                </a:solidFill>
              </a:defRPr>
            </a:defPPr>
            <a:lvl1pPr>
              <a:buNone/>
              <a:defRPr sz="1650" b="1">
                <a:solidFill>
                  <a:srgbClr val="167D9A"/>
                </a:solidFill>
              </a:defRPr>
            </a:lvl1pPr>
            <a:lvl2pPr>
              <a:buNone/>
              <a:defRPr sz="1650" b="1">
                <a:solidFill>
                  <a:srgbClr val="167D9A"/>
                </a:solidFill>
              </a:defRPr>
            </a:lvl2pPr>
            <a:lvl3pPr>
              <a:buNone/>
              <a:defRPr sz="1650" b="1">
                <a:solidFill>
                  <a:srgbClr val="167D9A"/>
                </a:solidFill>
              </a:defRPr>
            </a:lvl3pPr>
            <a:lvl4pPr>
              <a:buNone/>
              <a:defRPr sz="1650" b="1">
                <a:solidFill>
                  <a:srgbClr val="167D9A"/>
                </a:solidFill>
              </a:defRPr>
            </a:lvl4pPr>
            <a:lvl5pPr>
              <a:buNone/>
              <a:defRPr sz="1650" b="1">
                <a:solidFill>
                  <a:srgbClr val="167D9A"/>
                </a:solidFill>
              </a:defRPr>
            </a:lvl5pPr>
            <a:lvl6pPr>
              <a:buNone/>
              <a:defRPr sz="1650" b="1">
                <a:solidFill>
                  <a:srgbClr val="167D9A"/>
                </a:solidFill>
              </a:defRPr>
            </a:lvl6pPr>
            <a:lvl7pPr>
              <a:buNone/>
              <a:defRPr sz="1650" b="1">
                <a:solidFill>
                  <a:srgbClr val="167D9A"/>
                </a:solidFill>
              </a:defRPr>
            </a:lvl7pPr>
            <a:lvl8pPr>
              <a:buNone/>
              <a:defRPr sz="1650" b="1">
                <a:solidFill>
                  <a:srgbClr val="167D9A"/>
                </a:solidFill>
              </a:defRPr>
            </a:lvl8pPr>
            <a:lvl9pPr>
              <a:buNone/>
              <a:defRPr sz="1650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67D9A"/>
                </a:solidFill>
              </a:defRPr>
            </a:pPr>
            <a:r>
              <a:rPr sz="1650" b="1">
                <a:solidFill>
                  <a:srgbClr val="167D9A"/>
                </a:solidFill>
              </a:rPr>
              <a:t>What the model shows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56C55-0354-4069-A361-31AEC210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895475"/>
            <a:ext cx="4762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314F"/>
                </a:solidFill>
              </a:defRPr>
            </a:defPPr>
            <a:lvl1pPr>
              <a:buNone/>
              <a:defRPr sz="1500" b="0">
                <a:solidFill>
                  <a:srgbClr val="18314F"/>
                </a:solidFill>
              </a:defRPr>
            </a:lvl1pPr>
            <a:lvl2pPr>
              <a:buNone/>
              <a:defRPr sz="1500" b="0">
                <a:solidFill>
                  <a:srgbClr val="18314F"/>
                </a:solidFill>
              </a:defRPr>
            </a:lvl2pPr>
            <a:lvl3pPr>
              <a:buNone/>
              <a:defRPr sz="1500" b="0">
                <a:solidFill>
                  <a:srgbClr val="18314F"/>
                </a:solidFill>
              </a:defRPr>
            </a:lvl3pPr>
            <a:lvl4pPr>
              <a:buNone/>
              <a:defRPr sz="1500" b="0">
                <a:solidFill>
                  <a:srgbClr val="18314F"/>
                </a:solidFill>
              </a:defRPr>
            </a:lvl4pPr>
            <a:lvl5pPr>
              <a:buNone/>
              <a:defRPr sz="1500" b="0">
                <a:solidFill>
                  <a:srgbClr val="18314F"/>
                </a:solidFill>
              </a:defRPr>
            </a:lvl5pPr>
            <a:lvl6pPr>
              <a:buNone/>
              <a:defRPr sz="1500" b="0">
                <a:solidFill>
                  <a:srgbClr val="18314F"/>
                </a:solidFill>
              </a:defRPr>
            </a:lvl6pPr>
            <a:lvl7pPr>
              <a:buNone/>
              <a:defRPr sz="1500" b="0">
                <a:solidFill>
                  <a:srgbClr val="18314F"/>
                </a:solidFill>
              </a:defRPr>
            </a:lvl7pPr>
            <a:lvl8pPr>
              <a:buNone/>
              <a:defRPr sz="1500" b="0">
                <a:solidFill>
                  <a:srgbClr val="18314F"/>
                </a:solidFill>
              </a:defRPr>
            </a:lvl8pPr>
            <a:lvl9pPr>
              <a:buNone/>
              <a:defRPr sz="1500" b="0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8314F"/>
                </a:solidFill>
              </a:defRPr>
            </a:pPr>
            <a:r>
              <a:rPr sz="1500" b="0">
                <a:solidFill>
                  <a:srgbClr val="18314F"/>
                </a:solidFill>
              </a:rPr>
              <a:t>Dijkstra prices each stop-to-stop leg. 2-opt can shorten a feasible tour, depending on its starting order.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407A7-0729-4B7C-BB32-AC89E4EE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0" y="1457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7D9A"/>
                </a:solidFill>
              </a:defRPr>
            </a:defPPr>
            <a:lvl1pPr>
              <a:buNone/>
              <a:defRPr sz="1650" b="1">
                <a:solidFill>
                  <a:srgbClr val="167D9A"/>
                </a:solidFill>
              </a:defRPr>
            </a:lvl1pPr>
            <a:lvl2pPr>
              <a:buNone/>
              <a:defRPr sz="1650" b="1">
                <a:solidFill>
                  <a:srgbClr val="167D9A"/>
                </a:solidFill>
              </a:defRPr>
            </a:lvl2pPr>
            <a:lvl3pPr>
              <a:buNone/>
              <a:defRPr sz="1650" b="1">
                <a:solidFill>
                  <a:srgbClr val="167D9A"/>
                </a:solidFill>
              </a:defRPr>
            </a:lvl3pPr>
            <a:lvl4pPr>
              <a:buNone/>
              <a:defRPr sz="1650" b="1">
                <a:solidFill>
                  <a:srgbClr val="167D9A"/>
                </a:solidFill>
              </a:defRPr>
            </a:lvl4pPr>
            <a:lvl5pPr>
              <a:buNone/>
              <a:defRPr sz="1650" b="1">
                <a:solidFill>
                  <a:srgbClr val="167D9A"/>
                </a:solidFill>
              </a:defRPr>
            </a:lvl5pPr>
            <a:lvl6pPr>
              <a:buNone/>
              <a:defRPr sz="1650" b="1">
                <a:solidFill>
                  <a:srgbClr val="167D9A"/>
                </a:solidFill>
              </a:defRPr>
            </a:lvl6pPr>
            <a:lvl7pPr>
              <a:buNone/>
              <a:defRPr sz="1650" b="1">
                <a:solidFill>
                  <a:srgbClr val="167D9A"/>
                </a:solidFill>
              </a:defRPr>
            </a:lvl7pPr>
            <a:lvl8pPr>
              <a:buNone/>
              <a:defRPr sz="1650" b="1">
                <a:solidFill>
                  <a:srgbClr val="167D9A"/>
                </a:solidFill>
              </a:defRPr>
            </a:lvl8pPr>
            <a:lvl9pPr>
              <a:buNone/>
              <a:defRPr sz="1650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67D9A"/>
                </a:solidFill>
              </a:defRPr>
            </a:pPr>
            <a:r>
              <a:rPr sz="1650" b="1">
                <a:solidFill>
                  <a:srgbClr val="167D9A"/>
                </a:solidFill>
              </a:rPr>
              <a:t>What a real deployment needs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E89C7-60C6-43A8-9ABB-0DBAAA70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0" y="1895475"/>
            <a:ext cx="4762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314F"/>
                </a:solidFill>
              </a:defRPr>
            </a:defPPr>
            <a:lvl1pPr>
              <a:buNone/>
              <a:defRPr sz="1500" b="0">
                <a:solidFill>
                  <a:srgbClr val="18314F"/>
                </a:solidFill>
              </a:defRPr>
            </a:lvl1pPr>
            <a:lvl2pPr>
              <a:buNone/>
              <a:defRPr sz="1500" b="0">
                <a:solidFill>
                  <a:srgbClr val="18314F"/>
                </a:solidFill>
              </a:defRPr>
            </a:lvl2pPr>
            <a:lvl3pPr>
              <a:buNone/>
              <a:defRPr sz="1500" b="0">
                <a:solidFill>
                  <a:srgbClr val="18314F"/>
                </a:solidFill>
              </a:defRPr>
            </a:lvl3pPr>
            <a:lvl4pPr>
              <a:buNone/>
              <a:defRPr sz="1500" b="0">
                <a:solidFill>
                  <a:srgbClr val="18314F"/>
                </a:solidFill>
              </a:defRPr>
            </a:lvl4pPr>
            <a:lvl5pPr>
              <a:buNone/>
              <a:defRPr sz="1500" b="0">
                <a:solidFill>
                  <a:srgbClr val="18314F"/>
                </a:solidFill>
              </a:defRPr>
            </a:lvl5pPr>
            <a:lvl6pPr>
              <a:buNone/>
              <a:defRPr sz="1500" b="0">
                <a:solidFill>
                  <a:srgbClr val="18314F"/>
                </a:solidFill>
              </a:defRPr>
            </a:lvl6pPr>
            <a:lvl7pPr>
              <a:buNone/>
              <a:defRPr sz="1500" b="0">
                <a:solidFill>
                  <a:srgbClr val="18314F"/>
                </a:solidFill>
              </a:defRPr>
            </a:lvl7pPr>
            <a:lvl8pPr>
              <a:buNone/>
              <a:defRPr sz="1500" b="0">
                <a:solidFill>
                  <a:srgbClr val="18314F"/>
                </a:solidFill>
              </a:defRPr>
            </a:lvl8pPr>
            <a:lvl9pPr>
              <a:buNone/>
              <a:defRPr sz="1500" b="0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8314F"/>
                </a:solidFill>
              </a:defRPr>
            </a:pPr>
            <a:r>
              <a:rPr sz="1500" b="0">
                <a:solidFill>
                  <a:srgbClr val="18314F"/>
                </a:solidFill>
              </a:rPr>
              <a:t>Verified roads and one-way restrictions, travel times, vehicle capacity, delivery windows, and larger-instance optimization.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6C42F-1B6F-4143-8063-AC469F1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35242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75B26-D214-4F04-AA9B-2144C6D3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3924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314F"/>
                </a:solidFill>
              </a:defRPr>
            </a:defPPr>
            <a:lvl1pPr>
              <a:buNone/>
              <a:defRPr sz="1500" b="1">
                <a:solidFill>
                  <a:srgbClr val="18314F"/>
                </a:solidFill>
              </a:defRPr>
            </a:lvl1pPr>
            <a:lvl2pPr>
              <a:buNone/>
              <a:defRPr sz="1500" b="1">
                <a:solidFill>
                  <a:srgbClr val="18314F"/>
                </a:solidFill>
              </a:defRPr>
            </a:lvl2pPr>
            <a:lvl3pPr>
              <a:buNone/>
              <a:defRPr sz="1500" b="1">
                <a:solidFill>
                  <a:srgbClr val="18314F"/>
                </a:solidFill>
              </a:defRPr>
            </a:lvl3pPr>
            <a:lvl4pPr>
              <a:buNone/>
              <a:defRPr sz="1500" b="1">
                <a:solidFill>
                  <a:srgbClr val="18314F"/>
                </a:solidFill>
              </a:defRPr>
            </a:lvl4pPr>
            <a:lvl5pPr>
              <a:buNone/>
              <a:defRPr sz="1500" b="1">
                <a:solidFill>
                  <a:srgbClr val="18314F"/>
                </a:solidFill>
              </a:defRPr>
            </a:lvl5pPr>
            <a:lvl6pPr>
              <a:buNone/>
              <a:defRPr sz="1500" b="1">
                <a:solidFill>
                  <a:srgbClr val="18314F"/>
                </a:solidFill>
              </a:defRPr>
            </a:lvl6pPr>
            <a:lvl7pPr>
              <a:buNone/>
              <a:defRPr sz="1500" b="1">
                <a:solidFill>
                  <a:srgbClr val="18314F"/>
                </a:solidFill>
              </a:defRPr>
            </a:lvl7pPr>
            <a:lvl8pPr>
              <a:buNone/>
              <a:defRPr sz="1500" b="1">
                <a:solidFill>
                  <a:srgbClr val="18314F"/>
                </a:solidFill>
              </a:defRPr>
            </a:lvl8pPr>
            <a:lvl9pPr>
              <a:buNone/>
              <a:defRPr sz="1500" b="1">
                <a:solidFill>
                  <a:srgbClr val="18314F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8314F"/>
                </a:solidFill>
              </a:defRPr>
            </a:pPr>
            <a:r>
              <a:rPr sz="1500" b="1">
                <a:solidFill>
                  <a:srgbClr val="18314F"/>
                </a:solidFill>
              </a:rPr>
              <a:t>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2441B-FC25-4D47-AB62-C9D6B517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4381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7D9A"/>
                </a:solidFill>
              </a:defRPr>
            </a:defPPr>
            <a:lvl1pPr>
              <a:buNone/>
              <a:defRPr sz="1800" b="1">
                <a:solidFill>
                  <a:srgbClr val="167D9A"/>
                </a:solidFill>
              </a:defRPr>
            </a:lvl1pPr>
            <a:lvl2pPr>
              <a:buNone/>
              <a:defRPr sz="1800" b="1">
                <a:solidFill>
                  <a:srgbClr val="167D9A"/>
                </a:solidFill>
              </a:defRPr>
            </a:lvl2pPr>
            <a:lvl3pPr>
              <a:buNone/>
              <a:defRPr sz="1800" b="1">
                <a:solidFill>
                  <a:srgbClr val="167D9A"/>
                </a:solidFill>
              </a:defRPr>
            </a:lvl3pPr>
            <a:lvl4pPr>
              <a:buNone/>
              <a:defRPr sz="1800" b="1">
                <a:solidFill>
                  <a:srgbClr val="167D9A"/>
                </a:solidFill>
              </a:defRPr>
            </a:lvl4pPr>
            <a:lvl5pPr>
              <a:buNone/>
              <a:defRPr sz="1800" b="1">
                <a:solidFill>
                  <a:srgbClr val="167D9A"/>
                </a:solidFill>
              </a:defRPr>
            </a:lvl5pPr>
            <a:lvl6pPr>
              <a:buNone/>
              <a:defRPr sz="1800" b="1">
                <a:solidFill>
                  <a:srgbClr val="167D9A"/>
                </a:solidFill>
              </a:defRPr>
            </a:lvl6pPr>
            <a:lvl7pPr>
              <a:buNone/>
              <a:defRPr sz="1800" b="1">
                <a:solidFill>
                  <a:srgbClr val="167D9A"/>
                </a:solidFill>
              </a:defRPr>
            </a:lvl7pPr>
            <a:lvl8pPr>
              <a:buNone/>
              <a:defRPr sz="1800" b="1">
                <a:solidFill>
                  <a:srgbClr val="167D9A"/>
                </a:solidFill>
              </a:defRPr>
            </a:lvl8pPr>
            <a:lvl9pPr>
              <a:buNone/>
              <a:defRPr sz="1800" b="1">
                <a:solidFill>
                  <a:srgbClr val="167D9A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67D9A"/>
                </a:solidFill>
              </a:defRPr>
            </a:pPr>
            <a:r>
              <a:rPr sz="1800" b="1">
                <a:solidFill>
                  <a:srgbClr val="167D9A"/>
                </a:solidFill>
              </a:rPr>
              <a:t>python transportation_optimizer.py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B2211-DF2A-4D9E-AB99-E7331FE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4933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06070"/>
                </a:solidFill>
              </a:defRPr>
            </a:defPPr>
            <a:lvl1pPr>
              <a:buNone/>
              <a:defRPr sz="1425" b="0">
                <a:solidFill>
                  <a:srgbClr val="506070"/>
                </a:solidFill>
              </a:defRPr>
            </a:lvl1pPr>
            <a:lvl2pPr>
              <a:buNone/>
              <a:defRPr sz="1425" b="0">
                <a:solidFill>
                  <a:srgbClr val="506070"/>
                </a:solidFill>
              </a:defRPr>
            </a:lvl2pPr>
            <a:lvl3pPr>
              <a:buNone/>
              <a:defRPr sz="1425" b="0">
                <a:solidFill>
                  <a:srgbClr val="506070"/>
                </a:solidFill>
              </a:defRPr>
            </a:lvl3pPr>
            <a:lvl4pPr>
              <a:buNone/>
              <a:defRPr sz="1425" b="0">
                <a:solidFill>
                  <a:srgbClr val="506070"/>
                </a:solidFill>
              </a:defRPr>
            </a:lvl4pPr>
            <a:lvl5pPr>
              <a:buNone/>
              <a:defRPr sz="1425" b="0">
                <a:solidFill>
                  <a:srgbClr val="506070"/>
                </a:solidFill>
              </a:defRPr>
            </a:lvl5pPr>
            <a:lvl6pPr>
              <a:buNone/>
              <a:defRPr sz="1425" b="0">
                <a:solidFill>
                  <a:srgbClr val="506070"/>
                </a:solidFill>
              </a:defRPr>
            </a:lvl6pPr>
            <a:lvl7pPr>
              <a:buNone/>
              <a:defRPr sz="1425" b="0">
                <a:solidFill>
                  <a:srgbClr val="506070"/>
                </a:solidFill>
              </a:defRPr>
            </a:lvl7pPr>
            <a:lvl8pPr>
              <a:buNone/>
              <a:defRPr sz="1425" b="0">
                <a:solidFill>
                  <a:srgbClr val="506070"/>
                </a:solidFill>
              </a:defRPr>
            </a:lvl8pPr>
            <a:lvl9pPr>
              <a:buNone/>
              <a:defRPr sz="1425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06070"/>
                </a:solidFill>
              </a:defRPr>
            </a:pPr>
            <a:r>
              <a:rPr sz="1425" b="0">
                <a:solidFill>
                  <a:srgbClr val="506070"/>
                </a:solidFill>
              </a:rPr>
              <a:t>Try: python transportation_optimizer.py --start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B54BC-4517-4A28-93F6-2A863D63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57912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070"/>
                </a:solidFill>
              </a:defRPr>
            </a:defPPr>
            <a:lvl1pPr>
              <a:buNone/>
              <a:defRPr sz="1200" b="0">
                <a:solidFill>
                  <a:srgbClr val="506070"/>
                </a:solidFill>
              </a:defRPr>
            </a:lvl1pPr>
            <a:lvl2pPr>
              <a:buNone/>
              <a:defRPr sz="1200" b="0">
                <a:solidFill>
                  <a:srgbClr val="506070"/>
                </a:solidFill>
              </a:defRPr>
            </a:lvl2pPr>
            <a:lvl3pPr>
              <a:buNone/>
              <a:defRPr sz="1200" b="0">
                <a:solidFill>
                  <a:srgbClr val="506070"/>
                </a:solidFill>
              </a:defRPr>
            </a:lvl3pPr>
            <a:lvl4pPr>
              <a:buNone/>
              <a:defRPr sz="1200" b="0">
                <a:solidFill>
                  <a:srgbClr val="506070"/>
                </a:solidFill>
              </a:defRPr>
            </a:lvl4pPr>
            <a:lvl5pPr>
              <a:buNone/>
              <a:defRPr sz="1200" b="0">
                <a:solidFill>
                  <a:srgbClr val="506070"/>
                </a:solidFill>
              </a:defRPr>
            </a:lvl5pPr>
            <a:lvl6pPr>
              <a:buNone/>
              <a:defRPr sz="1200" b="0">
                <a:solidFill>
                  <a:srgbClr val="506070"/>
                </a:solidFill>
              </a:defRPr>
            </a:lvl6pPr>
            <a:lvl7pPr>
              <a:buNone/>
              <a:defRPr sz="1200" b="0">
                <a:solidFill>
                  <a:srgbClr val="506070"/>
                </a:solidFill>
              </a:defRPr>
            </a:lvl7pPr>
            <a:lvl8pPr>
              <a:buNone/>
              <a:defRPr sz="1200" b="0">
                <a:solidFill>
                  <a:srgbClr val="506070"/>
                </a:solidFill>
              </a:defRPr>
            </a:lvl8pPr>
            <a:lvl9pPr>
              <a:buNone/>
              <a:defRPr sz="1200" b="0">
                <a:solidFill>
                  <a:srgbClr val="506070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06070"/>
                </a:solidFill>
              </a:defRPr>
            </a:pPr>
            <a:r>
              <a:rPr sz="1200" b="0">
                <a:solidFill>
                  <a:srgbClr val="506070"/>
                </a:solidFill>
              </a:rPr>
              <a:t>The sample map and distances are illustrative, not navigation data.</a:t>
            </a:r>
          </a:p>
        </p:txBody>
      </p:sp>
    </p:spTree>
    <p:extLst>
      <p:ext uri="{BB962C8B-B14F-4D97-AF65-F5344CB8AC3E}">
        <p14:creationId xmlns:p14="http://schemas.microsoft.com/office/powerpoint/2010/main" val="1729231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2026-10-17T15:21:14.8910000Z</dcterms:created>
  <dcterms:modified xsi:type="dcterms:W3CDTF">2026-10-17T15:21:14.8910000Z</dcterms:modified>
</coreProperties>
</file>